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66" r:id="rId3"/>
    <p:sldId id="257" r:id="rId4"/>
    <p:sldId id="258" r:id="rId5"/>
    <p:sldId id="259" r:id="rId6"/>
    <p:sldId id="268" r:id="rId7"/>
    <p:sldId id="260" r:id="rId8"/>
    <p:sldId id="261" r:id="rId9"/>
    <p:sldId id="262" r:id="rId10"/>
    <p:sldId id="263" r:id="rId11"/>
    <p:sldId id="264" r:id="rId12"/>
    <p:sldId id="265" r:id="rId13"/>
    <p:sldId id="267" r:id="rId14"/>
  </p:sldIdLst>
  <p:sldSz cx="12192000" cy="6858000"/>
  <p:notesSz cx="6858000" cy="12192000"/>
  <p:embeddedFontLst>
    <p:embeddedFont>
      <p:font typeface="Quattrocento" panose="020F0502020204030204" pitchFamily="18" charset="0"/>
      <p:regular r:id="rId16"/>
    </p:embeddedFont>
    <p:embeddedFont>
      <p:font typeface="Quattrocento Bold" panose="020B0604020202020204"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777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436B1-1052-E6A4-5CDE-5DAC3DA36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877B1-8675-F948-0603-92A57C81A71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D06E45F-2D68-80F8-5E28-A6F0D9C14C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BE707E-8B52-AD1D-D729-FB70E890178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893619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24281-CA8D-1D85-8F00-50E5152FA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A09E2-FD20-28D1-DA88-16D181C87BC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00BDD13-3EEB-5CBB-182E-4B23D4DCB8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22C45E-EAB3-335B-60B2-729CE3346F6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30785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BF046-CD5B-D03E-7333-EA7938E4E9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A239F-A70E-E019-435F-05953100AD0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5A8428A-E9AD-823E-0ACB-C19920CB27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8F04A3-C525-32D6-B39F-5452FE2D6AF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958959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C4241"/>
          </a:solidFill>
          <a:ln/>
        </p:spPr>
        <p:txBody>
          <a:bodyPr/>
          <a:lstStyle/>
          <a:p>
            <a:endParaRPr lang="en-IN"/>
          </a:p>
        </p:txBody>
      </p:sp>
      <p:sp>
        <p:nvSpPr>
          <p:cNvPr id="3" name="Shape 1"/>
          <p:cNvSpPr/>
          <p:nvPr/>
        </p:nvSpPr>
        <p:spPr>
          <a:xfrm>
            <a:off x="0" y="0"/>
            <a:ext cx="12191695" cy="6858000"/>
          </a:xfrm>
          <a:prstGeom prst="rect">
            <a:avLst/>
          </a:prstGeom>
          <a:solidFill>
            <a:srgbClr val="12333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331508" y="1118890"/>
            <a:ext cx="10795524" cy="586680"/>
          </a:xfrm>
          <a:prstGeom prst="rect">
            <a:avLst/>
          </a:prstGeom>
          <a:noFill/>
          <a:ln/>
        </p:spPr>
        <p:txBody>
          <a:bodyPr wrap="none" lIns="0" tIns="0" rIns="0" bIns="0" rtlCol="0" anchor="t"/>
          <a:lstStyle/>
          <a:p>
            <a:pPr marL="0" indent="0" algn="l">
              <a:lnSpc>
                <a:spcPct val="104000"/>
              </a:lnSpc>
              <a:buNone/>
            </a:pPr>
            <a:r>
              <a:rPr lang="en-US" sz="3650" dirty="0">
                <a:solidFill>
                  <a:srgbClr val="FFD9BE"/>
                </a:solidFill>
                <a:latin typeface="Quattrocento" pitchFamily="34" charset="0"/>
                <a:ea typeface="Quattrocento" pitchFamily="34" charset="-122"/>
                <a:cs typeface="Quattrocento" pitchFamily="34" charset="-120"/>
              </a:rPr>
              <a:t>Enterprise Banking Microservices</a:t>
            </a:r>
            <a:endParaRPr lang="en-US" sz="3650" dirty="0"/>
          </a:p>
        </p:txBody>
      </p:sp>
      <p:sp>
        <p:nvSpPr>
          <p:cNvPr id="3" name="Text 1"/>
          <p:cNvSpPr/>
          <p:nvPr/>
        </p:nvSpPr>
        <p:spPr>
          <a:xfrm>
            <a:off x="2245324" y="2459931"/>
            <a:ext cx="7374538"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     A Scalable and Secure Distributed Banking Backend — a project for Database Systems Engineering and Distributed Backend Development.   </a:t>
            </a:r>
            <a:endParaRPr lang="en-US" sz="1550" dirty="0"/>
          </a:p>
        </p:txBody>
      </p:sp>
      <p:sp>
        <p:nvSpPr>
          <p:cNvPr id="4" name="Shape 2"/>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
        <p:nvSpPr>
          <p:cNvPr id="8" name="Text 6"/>
          <p:cNvSpPr/>
          <p:nvPr/>
        </p:nvSpPr>
        <p:spPr>
          <a:xfrm>
            <a:off x="698086" y="4439345"/>
            <a:ext cx="11405108" cy="255191"/>
          </a:xfrm>
          <a:prstGeom prst="rect">
            <a:avLst/>
          </a:prstGeom>
          <a:noFill/>
          <a:ln/>
        </p:spPr>
        <p:txBody>
          <a:bodyPr wrap="none" lIns="0" tIns="0" rIns="0" bIns="0" rtlCol="0" anchor="t"/>
          <a:lstStyle/>
          <a:p>
            <a:pPr marL="0" indent="0" algn="l">
              <a:lnSpc>
                <a:spcPct val="133000"/>
              </a:lnSpc>
              <a:buNone/>
            </a:pPr>
            <a:r>
              <a:rPr lang="en-US" sz="1250" dirty="0">
                <a:solidFill>
                  <a:srgbClr val="F9EEE7"/>
                </a:solidFill>
                <a:latin typeface="Quattrocento" pitchFamily="34" charset="0"/>
                <a:ea typeface="Quattrocento" pitchFamily="34" charset="-122"/>
                <a:cs typeface="Quattrocento" pitchFamily="34" charset="-120"/>
              </a:rPr>
              <a:t> </a:t>
            </a:r>
            <a:r>
              <a:rPr lang="en-US" sz="1250" dirty="0" err="1">
                <a:solidFill>
                  <a:srgbClr val="F9EEE7"/>
                </a:solidFill>
                <a:latin typeface="Quattrocento" pitchFamily="34" charset="0"/>
                <a:ea typeface="Quattrocento" pitchFamily="34" charset="-122"/>
                <a:cs typeface="Quattrocento" pitchFamily="34" charset="-120"/>
              </a:rPr>
              <a:t>P.Sonu</a:t>
            </a:r>
            <a:r>
              <a:rPr lang="en-US" sz="1250" dirty="0">
                <a:solidFill>
                  <a:srgbClr val="F9EEE7"/>
                </a:solidFill>
                <a:latin typeface="Quattrocento" pitchFamily="34" charset="0"/>
                <a:ea typeface="Quattrocento" pitchFamily="34" charset="-122"/>
                <a:cs typeface="Quattrocento" pitchFamily="34" charset="-120"/>
              </a:rPr>
              <a:t> (2520090204),</a:t>
            </a:r>
          </a:p>
          <a:p>
            <a:pPr marL="0" indent="0" algn="l">
              <a:lnSpc>
                <a:spcPct val="133000"/>
              </a:lnSpc>
              <a:buNone/>
            </a:pPr>
            <a:r>
              <a:rPr lang="en-US" sz="1250" dirty="0">
                <a:solidFill>
                  <a:srgbClr val="F9EEE7"/>
                </a:solidFill>
                <a:latin typeface="Quattrocento" pitchFamily="34" charset="0"/>
                <a:ea typeface="Quattrocento" pitchFamily="34" charset="-122"/>
                <a:cs typeface="Quattrocento" pitchFamily="34" charset="-120"/>
              </a:rPr>
              <a:t> </a:t>
            </a:r>
            <a:r>
              <a:rPr lang="en-US" sz="1250" dirty="0" err="1">
                <a:solidFill>
                  <a:srgbClr val="F9EEE7"/>
                </a:solidFill>
                <a:latin typeface="Quattrocento" pitchFamily="34" charset="0"/>
                <a:ea typeface="Quattrocento" pitchFamily="34" charset="-122"/>
                <a:cs typeface="Quattrocento" pitchFamily="34" charset="-120"/>
              </a:rPr>
              <a:t>S.Rithesh</a:t>
            </a:r>
            <a:r>
              <a:rPr lang="en-US" sz="1250" dirty="0">
                <a:solidFill>
                  <a:srgbClr val="F9EEE7"/>
                </a:solidFill>
                <a:latin typeface="Quattrocento" pitchFamily="34" charset="0"/>
                <a:ea typeface="Quattrocento" pitchFamily="34" charset="-122"/>
                <a:cs typeface="Quattrocento" pitchFamily="34" charset="-120"/>
              </a:rPr>
              <a:t> (2520090122), </a:t>
            </a:r>
          </a:p>
          <a:p>
            <a:pPr marL="0" indent="0" algn="l">
              <a:lnSpc>
                <a:spcPct val="133000"/>
              </a:lnSpc>
              <a:buNone/>
            </a:pPr>
            <a:r>
              <a:rPr lang="en-US" sz="1250" dirty="0">
                <a:solidFill>
                  <a:srgbClr val="F9EEE7"/>
                </a:solidFill>
                <a:latin typeface="Quattrocento" pitchFamily="34" charset="0"/>
                <a:ea typeface="Quattrocento" pitchFamily="34" charset="-122"/>
                <a:cs typeface="Quattrocento" pitchFamily="34" charset="-120"/>
              </a:rPr>
              <a:t> </a:t>
            </a:r>
            <a:r>
              <a:rPr lang="en-US" sz="1250" dirty="0" err="1">
                <a:solidFill>
                  <a:srgbClr val="F9EEE7"/>
                </a:solidFill>
                <a:latin typeface="Quattrocento" pitchFamily="34" charset="0"/>
                <a:ea typeface="Quattrocento" pitchFamily="34" charset="-122"/>
                <a:cs typeface="Quattrocento" pitchFamily="34" charset="-120"/>
              </a:rPr>
              <a:t>J.Suresh</a:t>
            </a:r>
            <a:r>
              <a:rPr lang="en-US" sz="1250" dirty="0">
                <a:solidFill>
                  <a:srgbClr val="F9EEE7"/>
                </a:solidFill>
                <a:latin typeface="Quattrocento" pitchFamily="34" charset="0"/>
                <a:ea typeface="Quattrocento" pitchFamily="34" charset="-122"/>
                <a:cs typeface="Quattrocento" pitchFamily="34" charset="-120"/>
              </a:rPr>
              <a:t>  (2520090036)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11CD9-2E67-3B18-C5A3-B309405A5A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1E2A804-9B28-C5A8-D562-CE1EFAAA2E44}"/>
              </a:ext>
            </a:extLst>
          </p:cNvPr>
          <p:cNvSpPr/>
          <p:nvPr/>
        </p:nvSpPr>
        <p:spPr>
          <a:xfrm>
            <a:off x="4633961" y="1142813"/>
            <a:ext cx="6432146" cy="586680"/>
          </a:xfrm>
          <a:prstGeom prst="rect">
            <a:avLst/>
          </a:prstGeom>
          <a:noFill/>
          <a:ln/>
        </p:spPr>
        <p:txBody>
          <a:bodyPr wrap="none" lIns="0" tIns="0" rIns="0" bIns="0" rtlCol="0" anchor="t"/>
          <a:lstStyle/>
          <a:p>
            <a:pPr marL="0" indent="0" algn="l">
              <a:lnSpc>
                <a:spcPct val="104000"/>
              </a:lnSpc>
              <a:buNone/>
            </a:pPr>
            <a:r>
              <a:rPr lang="en-US" sz="3650" dirty="0">
                <a:solidFill>
                  <a:srgbClr val="FFD9BE"/>
                </a:solidFill>
                <a:latin typeface="Quattrocento" pitchFamily="34" charset="0"/>
                <a:ea typeface="Quattrocento" pitchFamily="34" charset="-122"/>
                <a:cs typeface="Quattrocento" pitchFamily="34" charset="-120"/>
              </a:rPr>
              <a:t> ABSTRACT</a:t>
            </a:r>
            <a:endParaRPr lang="en-US" sz="3650" dirty="0"/>
          </a:p>
        </p:txBody>
      </p:sp>
      <p:sp>
        <p:nvSpPr>
          <p:cNvPr id="3" name="Text 1">
            <a:extLst>
              <a:ext uri="{FF2B5EF4-FFF2-40B4-BE49-F238E27FC236}">
                <a16:creationId xmlns:a16="http://schemas.microsoft.com/office/drawing/2014/main" id="{F87C69E9-95FE-738B-8E1A-639AE4B7FAD9}"/>
              </a:ext>
            </a:extLst>
          </p:cNvPr>
          <p:cNvSpPr/>
          <p:nvPr/>
        </p:nvSpPr>
        <p:spPr>
          <a:xfrm>
            <a:off x="1735493" y="2224425"/>
            <a:ext cx="9255967" cy="3336619"/>
          </a:xfrm>
          <a:prstGeom prst="rect">
            <a:avLst/>
          </a:prstGeom>
          <a:noFill/>
          <a:ln/>
        </p:spPr>
        <p:txBody>
          <a:bodyPr wrap="square" lIns="0" tIns="0" rIns="0" bIns="0" rtlCol="0" anchor="t">
            <a:normAutofit lnSpcReduction="10000"/>
          </a:bodyPr>
          <a:lstStyle/>
          <a:p>
            <a:pPr algn="just"/>
            <a:r>
              <a:rPr lang="en-US" sz="700" dirty="0">
                <a:solidFill>
                  <a:schemeClr val="accent2">
                    <a:lumMod val="20000"/>
                    <a:lumOff val="80000"/>
                  </a:schemeClr>
                </a:solidFill>
                <a:latin typeface="Quattrocento" pitchFamily="34" charset="0"/>
                <a:ea typeface="Quattrocento" pitchFamily="34" charset="-122"/>
                <a:cs typeface="Quattrocento" pitchFamily="34" charset="-120"/>
              </a:rPr>
              <a:t>     </a:t>
            </a:r>
            <a:r>
              <a:rPr lang="en-IN" sz="1900" dirty="0">
                <a:solidFill>
                  <a:schemeClr val="accent2">
                    <a:lumMod val="20000"/>
                    <a:lumOff val="80000"/>
                  </a:schemeClr>
                </a:solidFill>
              </a:rPr>
              <a:t>Enterprise Banking Microservices is a distributed backend system designed to provide scalable, secure, and reliable banking services using a microservice architecture. The system divides major banking operations such as customer management, account management, transactions, payments, and authentication into independent services. Each microservice can operate and scale independently while communicating through well-defined APIs. A distributed database approach is used to maintain data consistency, reliability, and efficient access to banking information. The project demonstrates important database engineering concepts such as transaction management, concurrency control, data integrity, service-level database design, and secure data access. The architecture also supports fault isolation and scalability, making it suitable for handling large numbers of users and banking transactions. Overall, the project provides practical experience in designing and implementing a distributed banking backend using modern microservices and database technologies.</a:t>
            </a:r>
            <a:endParaRPr lang="en-US" sz="700" dirty="0">
              <a:solidFill>
                <a:schemeClr val="accent2">
                  <a:lumMod val="20000"/>
                  <a:lumOff val="80000"/>
                </a:schemeClr>
              </a:solidFill>
            </a:endParaRPr>
          </a:p>
        </p:txBody>
      </p:sp>
      <p:sp>
        <p:nvSpPr>
          <p:cNvPr id="4" name="Shape 2">
            <a:extLst>
              <a:ext uri="{FF2B5EF4-FFF2-40B4-BE49-F238E27FC236}">
                <a16:creationId xmlns:a16="http://schemas.microsoft.com/office/drawing/2014/main" id="{C6793733-3EC8-FDBA-2882-329857922AE4}"/>
              </a:ext>
            </a:extLst>
          </p:cNvPr>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
        <p:nvSpPr>
          <p:cNvPr id="8" name="Text 6">
            <a:extLst>
              <a:ext uri="{FF2B5EF4-FFF2-40B4-BE49-F238E27FC236}">
                <a16:creationId xmlns:a16="http://schemas.microsoft.com/office/drawing/2014/main" id="{E845F8B0-2C83-809C-A84E-DBE4E3CA4E8C}"/>
              </a:ext>
            </a:extLst>
          </p:cNvPr>
          <p:cNvSpPr/>
          <p:nvPr/>
        </p:nvSpPr>
        <p:spPr>
          <a:xfrm>
            <a:off x="698086" y="4439345"/>
            <a:ext cx="11405108" cy="255191"/>
          </a:xfrm>
          <a:prstGeom prst="rect">
            <a:avLst/>
          </a:prstGeom>
          <a:noFill/>
          <a:ln/>
        </p:spPr>
        <p:txBody>
          <a:bodyPr wrap="none" lIns="0" tIns="0" rIns="0" bIns="0" rtlCol="0" anchor="t"/>
          <a:lstStyle/>
          <a:p>
            <a:pPr marL="0" indent="0" algn="l">
              <a:lnSpc>
                <a:spcPct val="133000"/>
              </a:lnSpc>
              <a:buNone/>
            </a:pPr>
            <a:endParaRPr lang="en-US" sz="1250" dirty="0"/>
          </a:p>
        </p:txBody>
      </p:sp>
    </p:spTree>
    <p:extLst>
      <p:ext uri="{BB962C8B-B14F-4D97-AF65-F5344CB8AC3E}">
        <p14:creationId xmlns:p14="http://schemas.microsoft.com/office/powerpoint/2010/main" val="3149728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8086" y="1728688"/>
            <a:ext cx="10795524" cy="469404"/>
          </a:xfrm>
          <a:prstGeom prst="rect">
            <a:avLst/>
          </a:prstGeom>
          <a:noFill/>
          <a:ln/>
        </p:spPr>
        <p:txBody>
          <a:bodyPr wrap="none" lIns="0" tIns="0" rIns="0" bIns="0" rtlCol="0" anchor="t"/>
          <a:lstStyle/>
          <a:p>
            <a:pPr marL="0" indent="0" algn="l">
              <a:lnSpc>
                <a:spcPct val="104000"/>
              </a:lnSpc>
              <a:buNone/>
            </a:pPr>
            <a:r>
              <a:rPr lang="en-US" sz="2950" dirty="0">
                <a:solidFill>
                  <a:srgbClr val="FFD9BE"/>
                </a:solidFill>
                <a:latin typeface="Quattrocento" pitchFamily="34" charset="0"/>
                <a:ea typeface="Quattrocento" pitchFamily="34" charset="-122"/>
                <a:cs typeface="Quattrocento" pitchFamily="34" charset="-120"/>
              </a:rPr>
              <a:t>Introduction</a:t>
            </a:r>
            <a:endParaRPr lang="en-US" sz="2950" dirty="0"/>
          </a:p>
        </p:txBody>
      </p:sp>
      <p:sp>
        <p:nvSpPr>
          <p:cNvPr id="3" name="Text 1"/>
          <p:cNvSpPr/>
          <p:nvPr/>
        </p:nvSpPr>
        <p:spPr>
          <a:xfrm>
            <a:off x="698086" y="2497237"/>
            <a:ext cx="10795524" cy="957560"/>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     Traditional banking systems tend to be large, tightly coupled monoliths that struggle with growth and resilience. Our project applies a microservices architecture so each banking capability is independent: developed, deployed, scaled, and maintained on its own lifecycle.   </a:t>
            </a:r>
            <a:endParaRPr lang="en-US" sz="1550" dirty="0"/>
          </a:p>
        </p:txBody>
      </p:sp>
      <p:sp>
        <p:nvSpPr>
          <p:cNvPr id="4" name="Shape 2"/>
          <p:cNvSpPr/>
          <p:nvPr/>
        </p:nvSpPr>
        <p:spPr>
          <a:xfrm>
            <a:off x="698086" y="3679130"/>
            <a:ext cx="5298049" cy="1450181"/>
          </a:xfrm>
          <a:prstGeom prst="roundRect">
            <a:avLst>
              <a:gd name="adj" fmla="val 2063"/>
            </a:avLst>
          </a:prstGeom>
          <a:solidFill>
            <a:srgbClr val="315251"/>
          </a:solidFill>
          <a:ln/>
        </p:spPr>
        <p:txBody>
          <a:bodyPr/>
          <a:lstStyle/>
          <a:p>
            <a:endParaRPr lang="en-IN"/>
          </a:p>
        </p:txBody>
      </p:sp>
      <p:sp>
        <p:nvSpPr>
          <p:cNvPr id="5" name="Text 3"/>
          <p:cNvSpPr/>
          <p:nvPr/>
        </p:nvSpPr>
        <p:spPr>
          <a:xfrm>
            <a:off x="897510" y="3878560"/>
            <a:ext cx="4899200"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Primary Goal</a:t>
            </a:r>
            <a:endParaRPr lang="en-US" sz="1800" dirty="0"/>
          </a:p>
        </p:txBody>
      </p:sp>
      <p:sp>
        <p:nvSpPr>
          <p:cNvPr id="6" name="Text 4"/>
          <p:cNvSpPr/>
          <p:nvPr/>
        </p:nvSpPr>
        <p:spPr>
          <a:xfrm>
            <a:off x="897510" y="4291509"/>
            <a:ext cx="4899200"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Design a scalable, secure, and reliable distributed backend for core banking operations.</a:t>
            </a:r>
            <a:endParaRPr lang="en-US" sz="1550" dirty="0"/>
          </a:p>
        </p:txBody>
      </p:sp>
      <p:sp>
        <p:nvSpPr>
          <p:cNvPr id="7" name="Shape 5"/>
          <p:cNvSpPr/>
          <p:nvPr/>
        </p:nvSpPr>
        <p:spPr>
          <a:xfrm>
            <a:off x="6195560" y="3679130"/>
            <a:ext cx="5298049" cy="1450181"/>
          </a:xfrm>
          <a:prstGeom prst="roundRect">
            <a:avLst>
              <a:gd name="adj" fmla="val 2063"/>
            </a:avLst>
          </a:prstGeom>
          <a:solidFill>
            <a:srgbClr val="315251"/>
          </a:solidFill>
          <a:ln/>
        </p:spPr>
        <p:txBody>
          <a:bodyPr/>
          <a:lstStyle/>
          <a:p>
            <a:endParaRPr lang="en-IN"/>
          </a:p>
        </p:txBody>
      </p:sp>
      <p:sp>
        <p:nvSpPr>
          <p:cNvPr id="8" name="Text 6"/>
          <p:cNvSpPr/>
          <p:nvPr/>
        </p:nvSpPr>
        <p:spPr>
          <a:xfrm>
            <a:off x="6394985" y="3878560"/>
            <a:ext cx="4899200"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Communication</a:t>
            </a:r>
            <a:endParaRPr lang="en-US" sz="1800" dirty="0"/>
          </a:p>
        </p:txBody>
      </p:sp>
      <p:sp>
        <p:nvSpPr>
          <p:cNvPr id="9" name="Text 7"/>
          <p:cNvSpPr/>
          <p:nvPr/>
        </p:nvSpPr>
        <p:spPr>
          <a:xfrm>
            <a:off x="6394985" y="4291509"/>
            <a:ext cx="4899200"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Services interact via well-defined REST APIs and an API Gateway.</a:t>
            </a:r>
            <a:endParaRPr lang="en-US" sz="1550" dirty="0"/>
          </a:p>
        </p:txBody>
      </p:sp>
      <p:sp>
        <p:nvSpPr>
          <p:cNvPr id="11" name="Shape 2">
            <a:extLst>
              <a:ext uri="{FF2B5EF4-FFF2-40B4-BE49-F238E27FC236}">
                <a16:creationId xmlns:a16="http://schemas.microsoft.com/office/drawing/2014/main" id="{A73A3E82-D342-6ABE-552C-4F49509D0E96}"/>
              </a:ext>
            </a:extLst>
          </p:cNvPr>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8086" y="1359297"/>
            <a:ext cx="10795524" cy="469404"/>
          </a:xfrm>
          <a:prstGeom prst="rect">
            <a:avLst/>
          </a:prstGeom>
          <a:noFill/>
          <a:ln/>
        </p:spPr>
        <p:txBody>
          <a:bodyPr wrap="none" lIns="0" tIns="0" rIns="0" bIns="0" rtlCol="0" anchor="t"/>
          <a:lstStyle/>
          <a:p>
            <a:pPr marL="0" indent="0" algn="l">
              <a:lnSpc>
                <a:spcPct val="104000"/>
              </a:lnSpc>
              <a:buNone/>
            </a:pPr>
            <a:r>
              <a:rPr lang="en-US" sz="2950" dirty="0">
                <a:solidFill>
                  <a:srgbClr val="FFD9BE"/>
                </a:solidFill>
                <a:latin typeface="Quattrocento" pitchFamily="34" charset="0"/>
                <a:ea typeface="Quattrocento" pitchFamily="34" charset="-122"/>
                <a:cs typeface="Quattrocento" pitchFamily="34" charset="-120"/>
              </a:rPr>
              <a:t>Problem Statement</a:t>
            </a:r>
            <a:endParaRPr lang="en-US" sz="2950" dirty="0"/>
          </a:p>
        </p:txBody>
      </p:sp>
      <p:sp>
        <p:nvSpPr>
          <p:cNvPr id="3" name="Text 1"/>
          <p:cNvSpPr/>
          <p:nvPr/>
        </p:nvSpPr>
        <p:spPr>
          <a:xfrm>
            <a:off x="698086" y="2127845"/>
            <a:ext cx="10795524"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     Monolithic banking backends create operational and engineering constraints that impact availability, scalability, and security. Key issues include:   </a:t>
            </a:r>
            <a:endParaRPr lang="en-US" sz="1550" dirty="0"/>
          </a:p>
        </p:txBody>
      </p:sp>
      <p:sp>
        <p:nvSpPr>
          <p:cNvPr id="4" name="Text 2"/>
          <p:cNvSpPr/>
          <p:nvPr/>
        </p:nvSpPr>
        <p:spPr>
          <a:xfrm>
            <a:off x="698086" y="2990552"/>
            <a:ext cx="10795524" cy="1485999"/>
          </a:xfrm>
          <a:prstGeom prst="rect">
            <a:avLst/>
          </a:prstGeom>
          <a:noFill/>
          <a:ln/>
        </p:spPr>
        <p:txBody>
          <a:bodyPr wrap="square" lIns="0" tIns="79791" rIns="0" bIns="0" rtlCol="0" anchor="t">
            <a:normAutofit/>
          </a:bodyPr>
          <a:lstStyle/>
          <a:p>
            <a:pPr marL="314960" indent="-314960" algn="l">
              <a:lnSpc>
                <a:spcPct val="133000"/>
              </a:lnSpc>
              <a:buSzPct val="100000"/>
              <a:buChar char="•"/>
            </a:pPr>
            <a:r>
              <a:rPr lang="en-US" sz="1550" dirty="0">
                <a:solidFill>
                  <a:srgbClr val="F9EEE7"/>
                </a:solidFill>
                <a:latin typeface="Quattrocento" pitchFamily="34" charset="0"/>
                <a:ea typeface="Quattrocento" pitchFamily="34" charset="-122"/>
                <a:cs typeface="Quattrocento" pitchFamily="34" charset="-120"/>
              </a:rPr>
              <a:t>Hard-to-scale individual operations</a:t>
            </a:r>
            <a:endParaRPr lang="en-US" sz="1550" dirty="0"/>
          </a:p>
          <a:p>
            <a:pPr marL="314960" indent="-314960" algn="l">
              <a:lnSpc>
                <a:spcPct val="133000"/>
              </a:lnSpc>
              <a:buSzPct val="100000"/>
              <a:buChar char="•"/>
            </a:pPr>
            <a:r>
              <a:rPr lang="en-US" sz="1550" dirty="0">
                <a:solidFill>
                  <a:srgbClr val="F9EEE7"/>
                </a:solidFill>
                <a:latin typeface="Quattrocento" pitchFamily="34" charset="0"/>
                <a:ea typeface="Quattrocento" pitchFamily="34" charset="-122"/>
                <a:cs typeface="Quattrocento" pitchFamily="34" charset="-120"/>
              </a:rPr>
              <a:t>Tight coupling that increases blast radius of failures</a:t>
            </a:r>
            <a:endParaRPr lang="en-US" sz="1550" dirty="0"/>
          </a:p>
          <a:p>
            <a:pPr marL="314960" indent="-314960" algn="l">
              <a:lnSpc>
                <a:spcPct val="133000"/>
              </a:lnSpc>
              <a:buSzPct val="100000"/>
              <a:buChar char="•"/>
            </a:pPr>
            <a:r>
              <a:rPr lang="en-US" sz="1550" dirty="0">
                <a:solidFill>
                  <a:srgbClr val="F9EEE7"/>
                </a:solidFill>
                <a:latin typeface="Quattrocento" pitchFamily="34" charset="0"/>
                <a:ea typeface="Quattrocento" pitchFamily="34" charset="-122"/>
                <a:cs typeface="Quattrocento" pitchFamily="34" charset="-120"/>
              </a:rPr>
              <a:t>High complexity managing concurrent transactions and data consistency</a:t>
            </a:r>
            <a:endParaRPr lang="en-US" sz="1550" dirty="0"/>
          </a:p>
          <a:p>
            <a:pPr marL="314960" indent="-314960" algn="l">
              <a:lnSpc>
                <a:spcPct val="133000"/>
              </a:lnSpc>
              <a:buSzPct val="100000"/>
              <a:buChar char="•"/>
            </a:pPr>
            <a:r>
              <a:rPr lang="en-US" sz="1550" dirty="0">
                <a:solidFill>
                  <a:srgbClr val="F9EEE7"/>
                </a:solidFill>
                <a:latin typeface="Quattrocento" pitchFamily="34" charset="0"/>
                <a:ea typeface="Quattrocento" pitchFamily="34" charset="-122"/>
                <a:cs typeface="Quattrocento" pitchFamily="34" charset="-120"/>
              </a:rPr>
              <a:t>Elevated risk for sensitive-data exposure</a:t>
            </a:r>
            <a:endParaRPr lang="en-US" sz="1550" dirty="0"/>
          </a:p>
        </p:txBody>
      </p:sp>
      <p:sp>
        <p:nvSpPr>
          <p:cNvPr id="5" name="Shape 3"/>
          <p:cNvSpPr/>
          <p:nvPr/>
        </p:nvSpPr>
        <p:spPr>
          <a:xfrm>
            <a:off x="698086" y="4700885"/>
            <a:ext cx="10795524" cy="797719"/>
          </a:xfrm>
          <a:prstGeom prst="roundRect">
            <a:avLst>
              <a:gd name="adj" fmla="val 3751"/>
            </a:avLst>
          </a:prstGeom>
          <a:solidFill>
            <a:srgbClr val="71260E"/>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897510" y="4991497"/>
            <a:ext cx="249330" cy="199430"/>
          </a:xfrm>
          <a:prstGeom prst="rect">
            <a:avLst/>
          </a:prstGeom>
        </p:spPr>
      </p:pic>
      <p:sp>
        <p:nvSpPr>
          <p:cNvPr id="7" name="Text 4"/>
          <p:cNvSpPr/>
          <p:nvPr/>
        </p:nvSpPr>
        <p:spPr>
          <a:xfrm>
            <a:off x="1346266" y="4950123"/>
            <a:ext cx="10557504" cy="319187"/>
          </a:xfrm>
          <a:prstGeom prst="rect">
            <a:avLst/>
          </a:prstGeom>
          <a:noFill/>
          <a:ln/>
        </p:spPr>
        <p:txBody>
          <a:bodyPr wrap="none" lIns="0" tIns="0" rIns="0" bIns="0" rtlCol="0" anchor="t"/>
          <a:lstStyle/>
          <a:p>
            <a:pPr marL="0" indent="0" algn="l">
              <a:lnSpc>
                <a:spcPct val="133000"/>
              </a:lnSpc>
              <a:buNone/>
            </a:pPr>
            <a:r>
              <a:rPr lang="en-US" sz="1550" dirty="0">
                <a:solidFill>
                  <a:srgbClr val="FFFFFF"/>
                </a:solidFill>
                <a:latin typeface="Quattrocento" pitchFamily="34" charset="0"/>
                <a:ea typeface="Quattrocento" pitchFamily="34" charset="-122"/>
                <a:cs typeface="Quattrocento" pitchFamily="34" charset="-120"/>
              </a:rPr>
              <a:t> Our approach: independent microservices + distributed databases + secure APIs to address these problems.</a:t>
            </a:r>
            <a:endParaRPr lang="en-US" sz="1550" dirty="0"/>
          </a:p>
        </p:txBody>
      </p:sp>
      <p:sp>
        <p:nvSpPr>
          <p:cNvPr id="9" name="Shape 2">
            <a:extLst>
              <a:ext uri="{FF2B5EF4-FFF2-40B4-BE49-F238E27FC236}">
                <a16:creationId xmlns:a16="http://schemas.microsoft.com/office/drawing/2014/main" id="{5E412B09-9E99-B2B4-F75D-53F4AF08511A}"/>
              </a:ext>
            </a:extLst>
          </p:cNvPr>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8086" y="611981"/>
            <a:ext cx="10795524" cy="418009"/>
          </a:xfrm>
          <a:prstGeom prst="rect">
            <a:avLst/>
          </a:prstGeom>
          <a:noFill/>
          <a:ln/>
        </p:spPr>
        <p:txBody>
          <a:bodyPr wrap="none" lIns="0" tIns="0" rIns="0" bIns="0" rtlCol="0" anchor="t"/>
          <a:lstStyle/>
          <a:p>
            <a:pPr marL="0" indent="0" algn="l">
              <a:lnSpc>
                <a:spcPct val="104000"/>
              </a:lnSpc>
              <a:buNone/>
            </a:pPr>
            <a:r>
              <a:rPr lang="en-US" sz="2600" dirty="0">
                <a:solidFill>
                  <a:srgbClr val="FFD9BE"/>
                </a:solidFill>
                <a:latin typeface="Quattrocento" pitchFamily="34" charset="0"/>
                <a:ea typeface="Quattrocento" pitchFamily="34" charset="-122"/>
                <a:cs typeface="Quattrocento" pitchFamily="34" charset="-120"/>
              </a:rPr>
              <a:t>Proposed System — Microservices</a:t>
            </a:r>
            <a:endParaRPr lang="en-US" sz="2600" dirty="0"/>
          </a:p>
        </p:txBody>
      </p:sp>
      <p:pic>
        <p:nvPicPr>
          <p:cNvPr id="3" name="Image 0" descr="preencoded.png"/>
          <p:cNvPicPr>
            <a:picLocks noChangeAspect="1"/>
          </p:cNvPicPr>
          <p:nvPr/>
        </p:nvPicPr>
        <p:blipFill>
          <a:blip r:embed="rId3"/>
          <a:stretch>
            <a:fillRect/>
          </a:stretch>
        </p:blipFill>
        <p:spPr>
          <a:xfrm>
            <a:off x="698086" y="1346398"/>
            <a:ext cx="739657" cy="924520"/>
          </a:xfrm>
          <a:prstGeom prst="rect">
            <a:avLst/>
          </a:prstGeom>
        </p:spPr>
      </p:pic>
      <p:sp>
        <p:nvSpPr>
          <p:cNvPr id="4" name="Text 1"/>
          <p:cNvSpPr/>
          <p:nvPr/>
        </p:nvSpPr>
        <p:spPr>
          <a:xfrm>
            <a:off x="1635481" y="1346398"/>
            <a:ext cx="1613157" cy="522486"/>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9EEE7"/>
                </a:solidFill>
                <a:latin typeface="Quattrocento" pitchFamily="34" charset="0"/>
                <a:ea typeface="Quattrocento" pitchFamily="34" charset="-122"/>
                <a:cs typeface="Quattrocento" pitchFamily="34" charset="-120"/>
              </a:rPr>
              <a:t>Customer Service</a:t>
            </a:r>
            <a:endParaRPr lang="en-US" sz="1600" dirty="0"/>
          </a:p>
        </p:txBody>
      </p:sp>
      <p:sp>
        <p:nvSpPr>
          <p:cNvPr id="5" name="Text 2"/>
          <p:cNvSpPr/>
          <p:nvPr/>
        </p:nvSpPr>
        <p:spPr>
          <a:xfrm>
            <a:off x="1635481" y="1963738"/>
            <a:ext cx="1613157" cy="1074738"/>
          </a:xfrm>
          <a:prstGeom prst="rect">
            <a:avLst/>
          </a:prstGeom>
          <a:noFill/>
          <a:ln/>
        </p:spPr>
        <p:txBody>
          <a:bodyPr wrap="square" lIns="0" tIns="0" rIns="0" bIns="0" rtlCol="0" anchor="t">
            <a:normAutofit/>
          </a:bodyPr>
          <a:lstStyle/>
          <a:p>
            <a:pPr marL="0" indent="0" algn="l">
              <a:lnSpc>
                <a:spcPct val="126000"/>
              </a:lnSpc>
              <a:buNone/>
            </a:pPr>
            <a:r>
              <a:rPr lang="en-US" sz="1350" dirty="0">
                <a:solidFill>
                  <a:srgbClr val="F9EEE7"/>
                </a:solidFill>
                <a:latin typeface="Quattrocento" pitchFamily="34" charset="0"/>
                <a:ea typeface="Quattrocento" pitchFamily="34" charset="-122"/>
                <a:cs typeface="Quattrocento" pitchFamily="34" charset="-120"/>
              </a:rPr>
              <a:t>Registration, profile management, KYC metadata; owns Customer DB.</a:t>
            </a:r>
            <a:endParaRPr lang="en-US" sz="1350" dirty="0"/>
          </a:p>
        </p:txBody>
      </p:sp>
      <p:pic>
        <p:nvPicPr>
          <p:cNvPr id="6" name="Image 1" descr="preencoded.png"/>
          <p:cNvPicPr>
            <a:picLocks noChangeAspect="1"/>
          </p:cNvPicPr>
          <p:nvPr/>
        </p:nvPicPr>
        <p:blipFill>
          <a:blip r:embed="rId4"/>
          <a:stretch>
            <a:fillRect/>
          </a:stretch>
        </p:blipFill>
        <p:spPr>
          <a:xfrm>
            <a:off x="3446376" y="1346398"/>
            <a:ext cx="739657" cy="924520"/>
          </a:xfrm>
          <a:prstGeom prst="rect">
            <a:avLst/>
          </a:prstGeom>
        </p:spPr>
      </p:pic>
      <p:sp>
        <p:nvSpPr>
          <p:cNvPr id="7" name="Text 3"/>
          <p:cNvSpPr/>
          <p:nvPr/>
        </p:nvSpPr>
        <p:spPr>
          <a:xfrm>
            <a:off x="4383772" y="1346398"/>
            <a:ext cx="1613157" cy="261243"/>
          </a:xfrm>
          <a:prstGeom prst="rect">
            <a:avLst/>
          </a:prstGeom>
          <a:noFill/>
          <a:ln/>
        </p:spPr>
        <p:txBody>
          <a:bodyPr wrap="none" lIns="0" tIns="0" rIns="0" bIns="0" rtlCol="0" anchor="t"/>
          <a:lstStyle/>
          <a:p>
            <a:pPr marL="0" indent="0" algn="l">
              <a:lnSpc>
                <a:spcPct val="104000"/>
              </a:lnSpc>
              <a:buNone/>
            </a:pPr>
            <a:r>
              <a:rPr lang="en-US" sz="1600" dirty="0">
                <a:solidFill>
                  <a:srgbClr val="F9EEE7"/>
                </a:solidFill>
                <a:latin typeface="Quattrocento" pitchFamily="34" charset="0"/>
                <a:ea typeface="Quattrocento" pitchFamily="34" charset="-122"/>
                <a:cs typeface="Quattrocento" pitchFamily="34" charset="-120"/>
              </a:rPr>
              <a:t>Account Service</a:t>
            </a:r>
            <a:endParaRPr lang="en-US" sz="1600" dirty="0"/>
          </a:p>
        </p:txBody>
      </p:sp>
      <p:sp>
        <p:nvSpPr>
          <p:cNvPr id="8" name="Text 4"/>
          <p:cNvSpPr/>
          <p:nvPr/>
        </p:nvSpPr>
        <p:spPr>
          <a:xfrm>
            <a:off x="4383772" y="1702495"/>
            <a:ext cx="1613157" cy="1074738"/>
          </a:xfrm>
          <a:prstGeom prst="rect">
            <a:avLst/>
          </a:prstGeom>
          <a:noFill/>
          <a:ln/>
        </p:spPr>
        <p:txBody>
          <a:bodyPr wrap="square" lIns="0" tIns="0" rIns="0" bIns="0" rtlCol="0" anchor="t">
            <a:normAutofit/>
          </a:bodyPr>
          <a:lstStyle/>
          <a:p>
            <a:pPr marL="0" indent="0" algn="l">
              <a:lnSpc>
                <a:spcPct val="126000"/>
              </a:lnSpc>
              <a:buNone/>
            </a:pPr>
            <a:r>
              <a:rPr lang="en-US" sz="1350" dirty="0">
                <a:solidFill>
                  <a:srgbClr val="F9EEE7"/>
                </a:solidFill>
                <a:latin typeface="Quattrocento" pitchFamily="34" charset="0"/>
                <a:ea typeface="Quattrocento" pitchFamily="34" charset="-122"/>
                <a:cs typeface="Quattrocento" pitchFamily="34" charset="-120"/>
              </a:rPr>
              <a:t>Account creation, balances, and product metadata; owns Account DB.</a:t>
            </a:r>
            <a:endParaRPr lang="en-US" sz="1350" dirty="0"/>
          </a:p>
        </p:txBody>
      </p:sp>
      <p:pic>
        <p:nvPicPr>
          <p:cNvPr id="9" name="Image 2" descr="preencoded.png"/>
          <p:cNvPicPr>
            <a:picLocks noChangeAspect="1"/>
          </p:cNvPicPr>
          <p:nvPr/>
        </p:nvPicPr>
        <p:blipFill>
          <a:blip r:embed="rId5"/>
          <a:stretch>
            <a:fillRect/>
          </a:stretch>
        </p:blipFill>
        <p:spPr>
          <a:xfrm>
            <a:off x="6194667" y="1346398"/>
            <a:ext cx="739657" cy="924520"/>
          </a:xfrm>
          <a:prstGeom prst="rect">
            <a:avLst/>
          </a:prstGeom>
        </p:spPr>
      </p:pic>
      <p:sp>
        <p:nvSpPr>
          <p:cNvPr id="10" name="Text 5"/>
          <p:cNvSpPr/>
          <p:nvPr/>
        </p:nvSpPr>
        <p:spPr>
          <a:xfrm>
            <a:off x="7132062" y="1346398"/>
            <a:ext cx="1613157" cy="522486"/>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9EEE7"/>
                </a:solidFill>
                <a:latin typeface="Quattrocento" pitchFamily="34" charset="0"/>
                <a:ea typeface="Quattrocento" pitchFamily="34" charset="-122"/>
                <a:cs typeface="Quattrocento" pitchFamily="34" charset="-120"/>
              </a:rPr>
              <a:t>Transaction Service</a:t>
            </a:r>
            <a:endParaRPr lang="en-US" sz="1600" dirty="0"/>
          </a:p>
        </p:txBody>
      </p:sp>
      <p:sp>
        <p:nvSpPr>
          <p:cNvPr id="11" name="Text 6"/>
          <p:cNvSpPr/>
          <p:nvPr/>
        </p:nvSpPr>
        <p:spPr>
          <a:xfrm>
            <a:off x="7132062" y="1963738"/>
            <a:ext cx="1613157" cy="1343422"/>
          </a:xfrm>
          <a:prstGeom prst="rect">
            <a:avLst/>
          </a:prstGeom>
          <a:noFill/>
          <a:ln/>
        </p:spPr>
        <p:txBody>
          <a:bodyPr wrap="square" lIns="0" tIns="0" rIns="0" bIns="0" rtlCol="0" anchor="t">
            <a:normAutofit/>
          </a:bodyPr>
          <a:lstStyle/>
          <a:p>
            <a:pPr marL="0" indent="0" algn="l">
              <a:lnSpc>
                <a:spcPct val="126000"/>
              </a:lnSpc>
              <a:buNone/>
            </a:pPr>
            <a:r>
              <a:rPr lang="en-US" sz="1350" dirty="0">
                <a:solidFill>
                  <a:srgbClr val="F9EEE7"/>
                </a:solidFill>
                <a:latin typeface="Quattrocento" pitchFamily="34" charset="0"/>
                <a:ea typeface="Quattrocento" pitchFamily="34" charset="-122"/>
                <a:cs typeface="Quattrocento" pitchFamily="34" charset="-120"/>
              </a:rPr>
              <a:t>Deposits, withdrawals, transfers — durable transaction records in Transaction DB.</a:t>
            </a:r>
            <a:endParaRPr lang="en-US" sz="1350" dirty="0"/>
          </a:p>
        </p:txBody>
      </p:sp>
      <p:pic>
        <p:nvPicPr>
          <p:cNvPr id="12" name="Image 3" descr="preencoded.png"/>
          <p:cNvPicPr>
            <a:picLocks noChangeAspect="1"/>
          </p:cNvPicPr>
          <p:nvPr/>
        </p:nvPicPr>
        <p:blipFill>
          <a:blip r:embed="rId6"/>
          <a:stretch>
            <a:fillRect/>
          </a:stretch>
        </p:blipFill>
        <p:spPr>
          <a:xfrm>
            <a:off x="8942958" y="1346398"/>
            <a:ext cx="739657" cy="924520"/>
          </a:xfrm>
          <a:prstGeom prst="rect">
            <a:avLst/>
          </a:prstGeom>
        </p:spPr>
      </p:pic>
      <p:sp>
        <p:nvSpPr>
          <p:cNvPr id="13" name="Text 7"/>
          <p:cNvSpPr/>
          <p:nvPr/>
        </p:nvSpPr>
        <p:spPr>
          <a:xfrm>
            <a:off x="9880353" y="1346398"/>
            <a:ext cx="1613257" cy="261243"/>
          </a:xfrm>
          <a:prstGeom prst="rect">
            <a:avLst/>
          </a:prstGeom>
          <a:noFill/>
          <a:ln/>
        </p:spPr>
        <p:txBody>
          <a:bodyPr wrap="none" lIns="0" tIns="0" rIns="0" bIns="0" rtlCol="0" anchor="t"/>
          <a:lstStyle/>
          <a:p>
            <a:pPr marL="0" indent="0" algn="l">
              <a:lnSpc>
                <a:spcPct val="104000"/>
              </a:lnSpc>
              <a:buNone/>
            </a:pPr>
            <a:r>
              <a:rPr lang="en-US" sz="1600" dirty="0">
                <a:solidFill>
                  <a:srgbClr val="F9EEE7"/>
                </a:solidFill>
                <a:latin typeface="Quattrocento" pitchFamily="34" charset="0"/>
                <a:ea typeface="Quattrocento" pitchFamily="34" charset="-122"/>
                <a:cs typeface="Quattrocento" pitchFamily="34" charset="-120"/>
              </a:rPr>
              <a:t>Payment Service</a:t>
            </a:r>
            <a:endParaRPr lang="en-US" sz="1600" dirty="0"/>
          </a:p>
        </p:txBody>
      </p:sp>
      <p:sp>
        <p:nvSpPr>
          <p:cNvPr id="14" name="Text 8"/>
          <p:cNvSpPr/>
          <p:nvPr/>
        </p:nvSpPr>
        <p:spPr>
          <a:xfrm>
            <a:off x="9880353" y="1702495"/>
            <a:ext cx="1613257" cy="1074738"/>
          </a:xfrm>
          <a:prstGeom prst="rect">
            <a:avLst/>
          </a:prstGeom>
          <a:noFill/>
          <a:ln/>
        </p:spPr>
        <p:txBody>
          <a:bodyPr wrap="square" lIns="0" tIns="0" rIns="0" bIns="0" rtlCol="0" anchor="t">
            <a:normAutofit/>
          </a:bodyPr>
          <a:lstStyle/>
          <a:p>
            <a:pPr marL="0" indent="0" algn="l">
              <a:lnSpc>
                <a:spcPct val="126000"/>
              </a:lnSpc>
              <a:buNone/>
            </a:pPr>
            <a:r>
              <a:rPr lang="en-US" sz="1350" dirty="0">
                <a:solidFill>
                  <a:srgbClr val="F9EEE7"/>
                </a:solidFill>
                <a:latin typeface="Quattrocento" pitchFamily="34" charset="0"/>
                <a:ea typeface="Quattrocento" pitchFamily="34" charset="-122"/>
                <a:cs typeface="Quattrocento" pitchFamily="34" charset="-120"/>
              </a:rPr>
              <a:t>External payments, settlement, and reconciliation; Payment DB.</a:t>
            </a:r>
            <a:endParaRPr lang="en-US" sz="1350" dirty="0"/>
          </a:p>
        </p:txBody>
      </p:sp>
      <p:pic>
        <p:nvPicPr>
          <p:cNvPr id="15" name="Image 4" descr="preencoded.png"/>
          <p:cNvPicPr>
            <a:picLocks noChangeAspect="1"/>
          </p:cNvPicPr>
          <p:nvPr/>
        </p:nvPicPr>
        <p:blipFill>
          <a:blip r:embed="rId7"/>
          <a:stretch>
            <a:fillRect/>
          </a:stretch>
        </p:blipFill>
        <p:spPr>
          <a:xfrm>
            <a:off x="698086" y="3623568"/>
            <a:ext cx="739657" cy="924520"/>
          </a:xfrm>
          <a:prstGeom prst="rect">
            <a:avLst/>
          </a:prstGeom>
        </p:spPr>
      </p:pic>
      <p:sp>
        <p:nvSpPr>
          <p:cNvPr id="16" name="Text 9"/>
          <p:cNvSpPr/>
          <p:nvPr/>
        </p:nvSpPr>
        <p:spPr>
          <a:xfrm>
            <a:off x="1635481" y="3623568"/>
            <a:ext cx="1613157" cy="522486"/>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9EEE7"/>
                </a:solidFill>
                <a:latin typeface="Quattrocento" pitchFamily="34" charset="0"/>
                <a:ea typeface="Quattrocento" pitchFamily="34" charset="-122"/>
                <a:cs typeface="Quattrocento" pitchFamily="34" charset="-120"/>
              </a:rPr>
              <a:t>Authentication Service</a:t>
            </a:r>
            <a:endParaRPr lang="en-US" sz="1600" dirty="0"/>
          </a:p>
        </p:txBody>
      </p:sp>
      <p:sp>
        <p:nvSpPr>
          <p:cNvPr id="17" name="Text 10"/>
          <p:cNvSpPr/>
          <p:nvPr/>
        </p:nvSpPr>
        <p:spPr>
          <a:xfrm>
            <a:off x="1635481" y="4240907"/>
            <a:ext cx="1613157" cy="1612106"/>
          </a:xfrm>
          <a:prstGeom prst="rect">
            <a:avLst/>
          </a:prstGeom>
          <a:noFill/>
          <a:ln/>
        </p:spPr>
        <p:txBody>
          <a:bodyPr wrap="square" lIns="0" tIns="0" rIns="0" bIns="0" rtlCol="0" anchor="t">
            <a:normAutofit/>
          </a:bodyPr>
          <a:lstStyle/>
          <a:p>
            <a:pPr marL="0" indent="0" algn="l">
              <a:lnSpc>
                <a:spcPct val="126000"/>
              </a:lnSpc>
              <a:buNone/>
            </a:pPr>
            <a:r>
              <a:rPr lang="en-US" sz="1350" dirty="0">
                <a:solidFill>
                  <a:srgbClr val="F9EEE7"/>
                </a:solidFill>
                <a:latin typeface="Quattrocento" pitchFamily="34" charset="0"/>
                <a:ea typeface="Quattrocento" pitchFamily="34" charset="-122"/>
                <a:cs typeface="Quattrocento" pitchFamily="34" charset="-120"/>
              </a:rPr>
              <a:t>Login, JWT issuance, password hashing, MFA hooks; Auth DB isolated for credentials.</a:t>
            </a:r>
            <a:endParaRPr lang="en-US" sz="1350" dirty="0"/>
          </a:p>
        </p:txBody>
      </p:sp>
      <p:sp>
        <p:nvSpPr>
          <p:cNvPr id="18" name="Text 11"/>
          <p:cNvSpPr/>
          <p:nvPr/>
        </p:nvSpPr>
        <p:spPr>
          <a:xfrm>
            <a:off x="698086" y="6031012"/>
            <a:ext cx="11405108" cy="215007"/>
          </a:xfrm>
          <a:prstGeom prst="rect">
            <a:avLst/>
          </a:prstGeom>
          <a:noFill/>
          <a:ln/>
        </p:spPr>
        <p:txBody>
          <a:bodyPr wrap="none" lIns="0" tIns="0" rIns="0" bIns="0" rtlCol="0" anchor="t"/>
          <a:lstStyle/>
          <a:p>
            <a:pPr marL="0" indent="0" algn="l">
              <a:lnSpc>
                <a:spcPct val="126000"/>
              </a:lnSpc>
              <a:buNone/>
            </a:pPr>
            <a:r>
              <a:rPr lang="en-US" sz="1100" dirty="0">
                <a:solidFill>
                  <a:srgbClr val="F9EEE7"/>
                </a:solidFill>
                <a:latin typeface="Quattrocento" pitchFamily="34" charset="0"/>
                <a:ea typeface="Quattrocento" pitchFamily="34" charset="-122"/>
                <a:cs typeface="Quattrocento" pitchFamily="34" charset="-120"/>
              </a:rPr>
              <a:t> Each service exposes REST endpoints and owns its data to minimize coupling.</a:t>
            </a:r>
            <a:endParaRPr lang="en-US" sz="1100" dirty="0"/>
          </a:p>
        </p:txBody>
      </p:sp>
      <p:sp>
        <p:nvSpPr>
          <p:cNvPr id="20" name="Shape 2">
            <a:extLst>
              <a:ext uri="{FF2B5EF4-FFF2-40B4-BE49-F238E27FC236}">
                <a16:creationId xmlns:a16="http://schemas.microsoft.com/office/drawing/2014/main" id="{BEA2BA4E-BD94-250B-4A63-B145505DAAF2}"/>
              </a:ext>
            </a:extLst>
          </p:cNvPr>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A3826-5FBD-33D5-7997-A91CB341CBB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E940BA5-20E1-D4AF-028B-9E93BE127A7C}"/>
              </a:ext>
            </a:extLst>
          </p:cNvPr>
          <p:cNvSpPr/>
          <p:nvPr/>
        </p:nvSpPr>
        <p:spPr>
          <a:xfrm>
            <a:off x="2331508" y="1118890"/>
            <a:ext cx="10795524" cy="586680"/>
          </a:xfrm>
          <a:prstGeom prst="rect">
            <a:avLst/>
          </a:prstGeom>
          <a:noFill/>
          <a:ln/>
        </p:spPr>
        <p:txBody>
          <a:bodyPr wrap="none" lIns="0" tIns="0" rIns="0" bIns="0" rtlCol="0" anchor="t"/>
          <a:lstStyle/>
          <a:p>
            <a:r>
              <a:rPr lang="en-IN" sz="4000" dirty="0">
                <a:solidFill>
                  <a:schemeClr val="accent2">
                    <a:lumMod val="20000"/>
                    <a:lumOff val="80000"/>
                  </a:schemeClr>
                </a:solidFill>
              </a:rPr>
              <a:t>Fraud Detection &amp; Risk Analysis</a:t>
            </a:r>
            <a:endParaRPr lang="en-US" sz="3650" dirty="0">
              <a:solidFill>
                <a:schemeClr val="accent2">
                  <a:lumMod val="20000"/>
                  <a:lumOff val="80000"/>
                </a:schemeClr>
              </a:solidFill>
            </a:endParaRPr>
          </a:p>
        </p:txBody>
      </p:sp>
      <p:sp>
        <p:nvSpPr>
          <p:cNvPr id="3" name="Text 1">
            <a:extLst>
              <a:ext uri="{FF2B5EF4-FFF2-40B4-BE49-F238E27FC236}">
                <a16:creationId xmlns:a16="http://schemas.microsoft.com/office/drawing/2014/main" id="{F7E1BDC2-8EBF-D808-75F9-D3A67CD73C02}"/>
              </a:ext>
            </a:extLst>
          </p:cNvPr>
          <p:cNvSpPr/>
          <p:nvPr/>
        </p:nvSpPr>
        <p:spPr>
          <a:xfrm>
            <a:off x="2245324" y="2459931"/>
            <a:ext cx="7374538" cy="2690039"/>
          </a:xfrm>
          <a:prstGeom prst="rect">
            <a:avLst/>
          </a:prstGeom>
          <a:noFill/>
          <a:ln/>
        </p:spPr>
        <p:txBody>
          <a:bodyPr wrap="square" lIns="0" tIns="0" rIns="0" bIns="0" rtlCol="0" anchor="t">
            <a:normAutofit lnSpcReduction="10000"/>
          </a:bodyPr>
          <a:lstStyle/>
          <a:p>
            <a:pPr marL="285750" lvl="0" indent="-285750">
              <a:buFont typeface="Arial" panose="020B0604020202020204" pitchFamily="34" charset="0"/>
              <a:buChar char="•"/>
            </a:pPr>
            <a:r>
              <a:rPr lang="en-IN" sz="1600" dirty="0">
                <a:solidFill>
                  <a:schemeClr val="accent1">
                    <a:lumMod val="20000"/>
                    <a:lumOff val="80000"/>
                  </a:schemeClr>
                </a:solidFill>
              </a:rPr>
              <a:t>Independent </a:t>
            </a:r>
            <a:r>
              <a:rPr lang="en-IN" sz="1600" b="1" dirty="0">
                <a:solidFill>
                  <a:schemeClr val="accent1">
                    <a:lumMod val="20000"/>
                    <a:lumOff val="80000"/>
                  </a:schemeClr>
                </a:solidFill>
              </a:rPr>
              <a:t>Fraud Detection Microservice</a:t>
            </a:r>
            <a:r>
              <a:rPr lang="en-IN" sz="1600" dirty="0">
                <a:solidFill>
                  <a:schemeClr val="accent1">
                    <a:lumMod val="20000"/>
                    <a:lumOff val="80000"/>
                  </a:schemeClr>
                </a:solidFill>
              </a:rPr>
              <a:t> </a:t>
            </a:r>
          </a:p>
          <a:p>
            <a:pPr marL="285750" lvl="0" indent="-285750">
              <a:buFont typeface="Arial" panose="020B0604020202020204" pitchFamily="34" charset="0"/>
              <a:buChar char="•"/>
            </a:pPr>
            <a:r>
              <a:rPr lang="en-IN" sz="1600" dirty="0">
                <a:solidFill>
                  <a:schemeClr val="accent1">
                    <a:lumMod val="20000"/>
                    <a:lumOff val="80000"/>
                  </a:schemeClr>
                </a:solidFill>
              </a:rPr>
              <a:t>Analyzes transactions in real time </a:t>
            </a:r>
          </a:p>
          <a:p>
            <a:pPr marL="285750" lvl="0" indent="-285750">
              <a:buFont typeface="Arial" panose="020B0604020202020204" pitchFamily="34" charset="0"/>
              <a:buChar char="•"/>
            </a:pPr>
            <a:r>
              <a:rPr lang="en-IN" sz="1600" dirty="0">
                <a:solidFill>
                  <a:schemeClr val="accent1">
                    <a:lumMod val="20000"/>
                    <a:lumOff val="80000"/>
                  </a:schemeClr>
                </a:solidFill>
              </a:rPr>
              <a:t>Identifies unusual transaction patterns </a:t>
            </a:r>
          </a:p>
          <a:p>
            <a:pPr marL="285750" lvl="0" indent="-285750">
              <a:buFont typeface="Arial" panose="020B0604020202020204" pitchFamily="34" charset="0"/>
              <a:buChar char="•"/>
            </a:pPr>
            <a:r>
              <a:rPr lang="en-IN" sz="1600" dirty="0">
                <a:solidFill>
                  <a:schemeClr val="accent1">
                    <a:lumMod val="20000"/>
                    <a:lumOff val="80000"/>
                  </a:schemeClr>
                </a:solidFill>
              </a:rPr>
              <a:t>Generates a </a:t>
            </a:r>
            <a:r>
              <a:rPr lang="en-IN" sz="1600" b="1" dirty="0">
                <a:solidFill>
                  <a:schemeClr val="accent1">
                    <a:lumMod val="20000"/>
                    <a:lumOff val="80000"/>
                  </a:schemeClr>
                </a:solidFill>
              </a:rPr>
              <a:t>Risk Score (0–100)</a:t>
            </a:r>
            <a:r>
              <a:rPr lang="en-IN" sz="1600" dirty="0">
                <a:solidFill>
                  <a:schemeClr val="accent1">
                    <a:lumMod val="20000"/>
                    <a:lumOff val="80000"/>
                  </a:schemeClr>
                </a:solidFill>
              </a:rPr>
              <a:t> </a:t>
            </a:r>
          </a:p>
          <a:p>
            <a:pPr marL="285750" lvl="0" indent="-285750">
              <a:buFont typeface="Arial" panose="020B0604020202020204" pitchFamily="34" charset="0"/>
              <a:buChar char="•"/>
            </a:pPr>
            <a:r>
              <a:rPr lang="en-IN" sz="1600" b="1" dirty="0">
                <a:solidFill>
                  <a:schemeClr val="accent1">
                    <a:lumMod val="20000"/>
                    <a:lumOff val="80000"/>
                  </a:schemeClr>
                </a:solidFill>
              </a:rPr>
              <a:t>Low Risk → Approve</a:t>
            </a:r>
            <a:r>
              <a:rPr lang="en-IN" sz="1600" dirty="0">
                <a:solidFill>
                  <a:schemeClr val="accent1">
                    <a:lumMod val="20000"/>
                    <a:lumOff val="80000"/>
                  </a:schemeClr>
                </a:solidFill>
              </a:rPr>
              <a:t> </a:t>
            </a:r>
          </a:p>
          <a:p>
            <a:pPr marL="285750" lvl="0" indent="-285750">
              <a:buFont typeface="Arial" panose="020B0604020202020204" pitchFamily="34" charset="0"/>
              <a:buChar char="•"/>
            </a:pPr>
            <a:r>
              <a:rPr lang="en-IN" sz="1600" b="1" dirty="0">
                <a:solidFill>
                  <a:schemeClr val="accent1">
                    <a:lumMod val="20000"/>
                    <a:lumOff val="80000"/>
                  </a:schemeClr>
                </a:solidFill>
              </a:rPr>
              <a:t>Medium Risk → Additional Verification</a:t>
            </a:r>
            <a:r>
              <a:rPr lang="en-IN" sz="1600" dirty="0">
                <a:solidFill>
                  <a:schemeClr val="accent1">
                    <a:lumMod val="20000"/>
                    <a:lumOff val="80000"/>
                  </a:schemeClr>
                </a:solidFill>
              </a:rPr>
              <a:t> </a:t>
            </a:r>
          </a:p>
          <a:p>
            <a:pPr marL="285750" lvl="0" indent="-285750">
              <a:buFont typeface="Arial" panose="020B0604020202020204" pitchFamily="34" charset="0"/>
              <a:buChar char="•"/>
            </a:pPr>
            <a:r>
              <a:rPr lang="en-IN" sz="1600" b="1" dirty="0">
                <a:solidFill>
                  <a:schemeClr val="accent1">
                    <a:lumMod val="20000"/>
                    <a:lumOff val="80000"/>
                  </a:schemeClr>
                </a:solidFill>
              </a:rPr>
              <a:t>High Risk → Flag / Block</a:t>
            </a:r>
            <a:r>
              <a:rPr lang="en-IN" sz="1600" dirty="0">
                <a:solidFill>
                  <a:schemeClr val="accent1">
                    <a:lumMod val="20000"/>
                    <a:lumOff val="80000"/>
                  </a:schemeClr>
                </a:solidFill>
              </a:rPr>
              <a:t> </a:t>
            </a:r>
          </a:p>
          <a:p>
            <a:pPr marL="285750" lvl="0" indent="-285750">
              <a:buFont typeface="Arial" panose="020B0604020202020204" pitchFamily="34" charset="0"/>
              <a:buChar char="•"/>
            </a:pPr>
            <a:r>
              <a:rPr lang="en-IN" sz="1600" dirty="0">
                <a:solidFill>
                  <a:schemeClr val="accent1">
                    <a:lumMod val="20000"/>
                    <a:lumOff val="80000"/>
                  </a:schemeClr>
                </a:solidFill>
              </a:rPr>
              <a:t>Can use </a:t>
            </a:r>
            <a:r>
              <a:rPr lang="en-IN" sz="1600" b="1" dirty="0">
                <a:solidFill>
                  <a:schemeClr val="accent1">
                    <a:lumMod val="20000"/>
                    <a:lumOff val="80000"/>
                  </a:schemeClr>
                </a:solidFill>
              </a:rPr>
              <a:t>anomaly detection (e.g., DBSCAN)</a:t>
            </a:r>
            <a:r>
              <a:rPr lang="en-IN" sz="1600" dirty="0">
                <a:solidFill>
                  <a:schemeClr val="accent1">
                    <a:lumMod val="20000"/>
                    <a:lumOff val="80000"/>
                  </a:schemeClr>
                </a:solidFill>
              </a:rPr>
              <a:t> for suspicious transaction identification</a:t>
            </a:r>
          </a:p>
          <a:p>
            <a:pPr marL="285750" lvl="0" indent="-285750">
              <a:buFont typeface="Arial" panose="020B0604020202020204" pitchFamily="34" charset="0"/>
              <a:buChar char="•"/>
            </a:pPr>
            <a:endParaRPr lang="en-IN" sz="1600" dirty="0">
              <a:solidFill>
                <a:schemeClr val="accent1">
                  <a:lumMod val="20000"/>
                  <a:lumOff val="80000"/>
                </a:schemeClr>
              </a:solidFill>
            </a:endParaRPr>
          </a:p>
          <a:p>
            <a:pPr marL="285750" lvl="0" indent="-285750">
              <a:buFont typeface="Arial" panose="020B0604020202020204" pitchFamily="34" charset="0"/>
              <a:buChar char="•"/>
            </a:pPr>
            <a:endParaRPr lang="en-IN" sz="1600" dirty="0">
              <a:solidFill>
                <a:schemeClr val="accent1">
                  <a:lumMod val="20000"/>
                  <a:lumOff val="80000"/>
                </a:schemeClr>
              </a:solidFill>
            </a:endParaRPr>
          </a:p>
          <a:p>
            <a:r>
              <a:rPr lang="en-IN" sz="1600" dirty="0">
                <a:solidFill>
                  <a:schemeClr val="accent1">
                    <a:lumMod val="20000"/>
                    <a:lumOff val="80000"/>
                  </a:schemeClr>
                </a:solidFill>
              </a:rPr>
              <a:t>Transaction → </a:t>
            </a:r>
            <a:r>
              <a:rPr lang="en-IN" sz="1600" dirty="0" err="1">
                <a:solidFill>
                  <a:schemeClr val="accent1">
                    <a:lumMod val="20000"/>
                    <a:lumOff val="80000"/>
                  </a:schemeClr>
                </a:solidFill>
              </a:rPr>
              <a:t>Behavioral</a:t>
            </a:r>
            <a:r>
              <a:rPr lang="en-IN" sz="1600" dirty="0">
                <a:solidFill>
                  <a:schemeClr val="accent1">
                    <a:lumMod val="20000"/>
                    <a:lumOff val="80000"/>
                  </a:schemeClr>
                </a:solidFill>
              </a:rPr>
              <a:t> Features → Anomaly Detection → Risk Score → Decision → Feedback</a:t>
            </a:r>
            <a:endParaRPr lang="en-US" sz="1550" dirty="0">
              <a:solidFill>
                <a:schemeClr val="accent1">
                  <a:lumMod val="20000"/>
                  <a:lumOff val="80000"/>
                </a:schemeClr>
              </a:solidFill>
            </a:endParaRPr>
          </a:p>
        </p:txBody>
      </p:sp>
      <p:sp>
        <p:nvSpPr>
          <p:cNvPr id="4" name="Shape 2">
            <a:extLst>
              <a:ext uri="{FF2B5EF4-FFF2-40B4-BE49-F238E27FC236}">
                <a16:creationId xmlns:a16="http://schemas.microsoft.com/office/drawing/2014/main" id="{4963908E-72FA-391E-18C2-A464E06E9FA8}"/>
              </a:ext>
            </a:extLst>
          </p:cNvPr>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
        <p:nvSpPr>
          <p:cNvPr id="8" name="Text 6">
            <a:extLst>
              <a:ext uri="{FF2B5EF4-FFF2-40B4-BE49-F238E27FC236}">
                <a16:creationId xmlns:a16="http://schemas.microsoft.com/office/drawing/2014/main" id="{A238EFEE-888E-174F-5EB2-ED4FA17C1F71}"/>
              </a:ext>
            </a:extLst>
          </p:cNvPr>
          <p:cNvSpPr/>
          <p:nvPr/>
        </p:nvSpPr>
        <p:spPr>
          <a:xfrm>
            <a:off x="698086" y="4439345"/>
            <a:ext cx="11405108" cy="255191"/>
          </a:xfrm>
          <a:prstGeom prst="rect">
            <a:avLst/>
          </a:prstGeom>
          <a:noFill/>
          <a:ln/>
        </p:spPr>
        <p:txBody>
          <a:bodyPr wrap="none" lIns="0" tIns="0" rIns="0" bIns="0" rtlCol="0" anchor="t"/>
          <a:lstStyle/>
          <a:p>
            <a:pPr marL="0" indent="0" algn="l">
              <a:lnSpc>
                <a:spcPct val="133000"/>
              </a:lnSpc>
              <a:buNone/>
            </a:pPr>
            <a:endParaRPr lang="en-US" sz="1250" dirty="0"/>
          </a:p>
        </p:txBody>
      </p:sp>
      <p:sp>
        <p:nvSpPr>
          <p:cNvPr id="5" name="TextBox 4">
            <a:extLst>
              <a:ext uri="{FF2B5EF4-FFF2-40B4-BE49-F238E27FC236}">
                <a16:creationId xmlns:a16="http://schemas.microsoft.com/office/drawing/2014/main" id="{C6D75CEE-FE86-8FE1-7588-8C33A685EA25}"/>
              </a:ext>
            </a:extLst>
          </p:cNvPr>
          <p:cNvSpPr txBox="1"/>
          <p:nvPr/>
        </p:nvSpPr>
        <p:spPr>
          <a:xfrm>
            <a:off x="9342408" y="1319842"/>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779014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8086" y="548580"/>
            <a:ext cx="10795524" cy="234652"/>
          </a:xfrm>
          <a:prstGeom prst="rect">
            <a:avLst/>
          </a:prstGeom>
          <a:noFill/>
          <a:ln/>
        </p:spPr>
        <p:txBody>
          <a:bodyPr wrap="none" lIns="0" tIns="0" rIns="0" bIns="0" rtlCol="0" anchor="t"/>
          <a:lstStyle/>
          <a:p>
            <a:pPr marL="0" indent="0" algn="l">
              <a:lnSpc>
                <a:spcPct val="104000"/>
              </a:lnSpc>
              <a:buNone/>
            </a:pPr>
            <a:r>
              <a:rPr lang="en-US" sz="1450" dirty="0">
                <a:solidFill>
                  <a:srgbClr val="FFD9BE"/>
                </a:solidFill>
                <a:latin typeface="Quattrocento" pitchFamily="34" charset="0"/>
                <a:ea typeface="Quattrocento" pitchFamily="34" charset="-122"/>
                <a:cs typeface="Quattrocento" pitchFamily="34" charset="-120"/>
              </a:rPr>
              <a:t>System Architecture</a:t>
            </a:r>
            <a:endParaRPr lang="en-US" sz="1450" dirty="0"/>
          </a:p>
        </p:txBody>
      </p:sp>
      <p:pic>
        <p:nvPicPr>
          <p:cNvPr id="3" name="Image 0" descr="preencoded.png"/>
          <p:cNvPicPr>
            <a:picLocks noChangeAspect="1"/>
          </p:cNvPicPr>
          <p:nvPr/>
        </p:nvPicPr>
        <p:blipFill>
          <a:blip r:embed="rId3"/>
          <a:stretch>
            <a:fillRect/>
          </a:stretch>
        </p:blipFill>
        <p:spPr>
          <a:xfrm>
            <a:off x="2401431" y="857945"/>
            <a:ext cx="7388834" cy="5865515"/>
          </a:xfrm>
          <a:prstGeom prst="rect">
            <a:avLst/>
          </a:prstGeom>
        </p:spPr>
      </p:pic>
      <p:sp>
        <p:nvSpPr>
          <p:cNvPr id="4" name="Text 1"/>
          <p:cNvSpPr/>
          <p:nvPr/>
        </p:nvSpPr>
        <p:spPr>
          <a:xfrm>
            <a:off x="5422205" y="3478810"/>
            <a:ext cx="1327826" cy="571155"/>
          </a:xfrm>
          <a:prstGeom prst="rect">
            <a:avLst/>
          </a:prstGeom>
          <a:noFill/>
          <a:ln/>
        </p:spPr>
        <p:txBody>
          <a:bodyPr wrap="square" lIns="0" tIns="0" rIns="0" bIns="0" rtlCol="0" anchor="t">
            <a:normAutofit/>
          </a:bodyPr>
          <a:lstStyle/>
          <a:p>
            <a:pPr marL="0" indent="0" algn="ctr">
              <a:lnSpc>
                <a:spcPct val="104000"/>
              </a:lnSpc>
              <a:buNone/>
            </a:pPr>
            <a:r>
              <a:rPr lang="en-US" sz="1800" dirty="0">
                <a:solidFill>
                  <a:srgbClr val="000000"/>
                </a:solidFill>
                <a:latin typeface="Quattrocento" pitchFamily="34" charset="0"/>
                <a:ea typeface="Quattrocento" pitchFamily="34" charset="-122"/>
                <a:cs typeface="Quattrocento" pitchFamily="34" charset="-120"/>
              </a:rPr>
              <a:t>API Gateway Landscape</a:t>
            </a:r>
            <a:endParaRPr lang="en-US" sz="1800" dirty="0"/>
          </a:p>
        </p:txBody>
      </p:sp>
      <p:sp>
        <p:nvSpPr>
          <p:cNvPr id="5" name="Text 2"/>
          <p:cNvSpPr/>
          <p:nvPr/>
        </p:nvSpPr>
        <p:spPr>
          <a:xfrm>
            <a:off x="6728440" y="1581821"/>
            <a:ext cx="1975377" cy="285577"/>
          </a:xfrm>
          <a:prstGeom prst="rect">
            <a:avLst/>
          </a:prstGeom>
          <a:noFill/>
          <a:ln/>
        </p:spPr>
        <p:txBody>
          <a:bodyPr wrap="none" lIns="0" tIns="0" rIns="0" bIns="0" rtlCol="0" anchor="t"/>
          <a:lstStyle/>
          <a:p>
            <a:pPr marL="0" indent="0" algn="ctr">
              <a:lnSpc>
                <a:spcPct val="104000"/>
              </a:lnSpc>
              <a:buNone/>
            </a:pPr>
            <a:r>
              <a:rPr lang="en-US" sz="1800" dirty="0">
                <a:solidFill>
                  <a:srgbClr val="F9EEE7"/>
                </a:solidFill>
                <a:latin typeface="Quattrocento" pitchFamily="34" charset="0"/>
                <a:ea typeface="Quattrocento" pitchFamily="34" charset="-122"/>
                <a:cs typeface="Quattrocento" pitchFamily="34" charset="-120"/>
              </a:rPr>
              <a:t>Clients</a:t>
            </a:r>
            <a:endParaRPr lang="en-US" sz="1800" dirty="0"/>
          </a:p>
        </p:txBody>
      </p:sp>
      <p:sp>
        <p:nvSpPr>
          <p:cNvPr id="6" name="Text 3"/>
          <p:cNvSpPr/>
          <p:nvPr/>
        </p:nvSpPr>
        <p:spPr>
          <a:xfrm>
            <a:off x="6728440" y="1953763"/>
            <a:ext cx="1975377" cy="182176"/>
          </a:xfrm>
          <a:prstGeom prst="rect">
            <a:avLst/>
          </a:prstGeom>
          <a:noFill/>
          <a:ln/>
        </p:spPr>
        <p:txBody>
          <a:bodyPr wrap="none" lIns="0" tIns="0" rIns="0" bIns="0" rtlCol="0" anchor="t"/>
          <a:lstStyle/>
          <a:p>
            <a:pPr marL="0" indent="0" algn="ctr">
              <a:lnSpc>
                <a:spcPct val="78000"/>
              </a:lnSpc>
              <a:buNone/>
            </a:pPr>
            <a:r>
              <a:rPr lang="en-US" sz="1500" dirty="0">
                <a:solidFill>
                  <a:srgbClr val="F9EEE7"/>
                </a:solidFill>
                <a:latin typeface="Quattrocento" pitchFamily="34" charset="0"/>
                <a:ea typeface="Quattrocento" pitchFamily="34" charset="-122"/>
                <a:cs typeface="Quattrocento" pitchFamily="34" charset="-120"/>
              </a:rPr>
              <a:t>Web and mobile users</a:t>
            </a:r>
            <a:endParaRPr lang="en-US" sz="1500" dirty="0"/>
          </a:p>
        </p:txBody>
      </p:sp>
      <p:sp>
        <p:nvSpPr>
          <p:cNvPr id="7" name="Text 4"/>
          <p:cNvSpPr/>
          <p:nvPr/>
        </p:nvSpPr>
        <p:spPr>
          <a:xfrm>
            <a:off x="3435865" y="1581821"/>
            <a:ext cx="1975377" cy="285577"/>
          </a:xfrm>
          <a:prstGeom prst="rect">
            <a:avLst/>
          </a:prstGeom>
          <a:noFill/>
          <a:ln/>
        </p:spPr>
        <p:txBody>
          <a:bodyPr wrap="none" lIns="0" tIns="0" rIns="0" bIns="0" rtlCol="0" anchor="t"/>
          <a:lstStyle/>
          <a:p>
            <a:pPr marL="0" indent="0" algn="ctr">
              <a:lnSpc>
                <a:spcPct val="104000"/>
              </a:lnSpc>
              <a:buNone/>
            </a:pPr>
            <a:r>
              <a:rPr lang="en-US" sz="1800" dirty="0">
                <a:solidFill>
                  <a:srgbClr val="F9EEE7"/>
                </a:solidFill>
                <a:latin typeface="Quattrocento" pitchFamily="34" charset="0"/>
                <a:ea typeface="Quattrocento" pitchFamily="34" charset="-122"/>
                <a:cs typeface="Quattrocento" pitchFamily="34" charset="-120"/>
              </a:rPr>
              <a:t>Payment Service</a:t>
            </a:r>
            <a:endParaRPr lang="en-US" sz="1800" dirty="0"/>
          </a:p>
        </p:txBody>
      </p:sp>
      <p:sp>
        <p:nvSpPr>
          <p:cNvPr id="8" name="Text 5"/>
          <p:cNvSpPr/>
          <p:nvPr/>
        </p:nvSpPr>
        <p:spPr>
          <a:xfrm>
            <a:off x="3435865" y="1953763"/>
            <a:ext cx="1975377" cy="182176"/>
          </a:xfrm>
          <a:prstGeom prst="rect">
            <a:avLst/>
          </a:prstGeom>
          <a:noFill/>
          <a:ln/>
        </p:spPr>
        <p:txBody>
          <a:bodyPr wrap="none" lIns="0" tIns="0" rIns="0" bIns="0" rtlCol="0" anchor="t"/>
          <a:lstStyle/>
          <a:p>
            <a:pPr marL="0" indent="0" algn="ctr">
              <a:lnSpc>
                <a:spcPct val="78000"/>
              </a:lnSpc>
              <a:buNone/>
            </a:pPr>
            <a:r>
              <a:rPr lang="en-US" sz="1500" dirty="0">
                <a:solidFill>
                  <a:srgbClr val="F9EEE7"/>
                </a:solidFill>
                <a:latin typeface="Quattrocento" pitchFamily="34" charset="0"/>
                <a:ea typeface="Quattrocento" pitchFamily="34" charset="-122"/>
                <a:cs typeface="Quattrocento" pitchFamily="34" charset="-120"/>
              </a:rPr>
              <a:t>Own database</a:t>
            </a:r>
            <a:endParaRPr lang="en-US" sz="1500" dirty="0"/>
          </a:p>
        </p:txBody>
      </p:sp>
      <p:sp>
        <p:nvSpPr>
          <p:cNvPr id="9" name="Text 6"/>
          <p:cNvSpPr/>
          <p:nvPr/>
        </p:nvSpPr>
        <p:spPr>
          <a:xfrm>
            <a:off x="3435865" y="5435850"/>
            <a:ext cx="1975377" cy="285577"/>
          </a:xfrm>
          <a:prstGeom prst="rect">
            <a:avLst/>
          </a:prstGeom>
          <a:noFill/>
          <a:ln/>
        </p:spPr>
        <p:txBody>
          <a:bodyPr wrap="none" lIns="0" tIns="0" rIns="0" bIns="0" rtlCol="0" anchor="t"/>
          <a:lstStyle/>
          <a:p>
            <a:pPr marL="0" indent="0" algn="ctr">
              <a:lnSpc>
                <a:spcPct val="104000"/>
              </a:lnSpc>
              <a:buNone/>
            </a:pPr>
            <a:r>
              <a:rPr lang="en-US" sz="1800" dirty="0">
                <a:solidFill>
                  <a:srgbClr val="F9EEE7"/>
                </a:solidFill>
                <a:latin typeface="Quattrocento" pitchFamily="34" charset="0"/>
                <a:ea typeface="Quattrocento" pitchFamily="34" charset="-122"/>
                <a:cs typeface="Quattrocento" pitchFamily="34" charset="-120"/>
              </a:rPr>
              <a:t>Account Service</a:t>
            </a:r>
            <a:endParaRPr lang="en-US" sz="1800" dirty="0"/>
          </a:p>
        </p:txBody>
      </p:sp>
      <p:sp>
        <p:nvSpPr>
          <p:cNvPr id="10" name="Text 7"/>
          <p:cNvSpPr/>
          <p:nvPr/>
        </p:nvSpPr>
        <p:spPr>
          <a:xfrm>
            <a:off x="3435865" y="5807792"/>
            <a:ext cx="1975377" cy="182176"/>
          </a:xfrm>
          <a:prstGeom prst="rect">
            <a:avLst/>
          </a:prstGeom>
          <a:noFill/>
          <a:ln/>
        </p:spPr>
        <p:txBody>
          <a:bodyPr wrap="none" lIns="0" tIns="0" rIns="0" bIns="0" rtlCol="0" anchor="t"/>
          <a:lstStyle/>
          <a:p>
            <a:pPr marL="0" indent="0" algn="ctr">
              <a:lnSpc>
                <a:spcPct val="78000"/>
              </a:lnSpc>
              <a:buNone/>
            </a:pPr>
            <a:r>
              <a:rPr lang="en-US" sz="1500" dirty="0">
                <a:solidFill>
                  <a:srgbClr val="F9EEE7"/>
                </a:solidFill>
                <a:latin typeface="Quattrocento" pitchFamily="34" charset="0"/>
                <a:ea typeface="Quattrocento" pitchFamily="34" charset="-122"/>
                <a:cs typeface="Quattrocento" pitchFamily="34" charset="-120"/>
              </a:rPr>
              <a:t>Own database</a:t>
            </a:r>
            <a:endParaRPr lang="en-US" sz="1500" dirty="0"/>
          </a:p>
        </p:txBody>
      </p:sp>
      <p:sp>
        <p:nvSpPr>
          <p:cNvPr id="11" name="Text 8"/>
          <p:cNvSpPr/>
          <p:nvPr/>
        </p:nvSpPr>
        <p:spPr>
          <a:xfrm>
            <a:off x="6728440" y="5435850"/>
            <a:ext cx="1975377" cy="285577"/>
          </a:xfrm>
          <a:prstGeom prst="rect">
            <a:avLst/>
          </a:prstGeom>
          <a:noFill/>
          <a:ln/>
        </p:spPr>
        <p:txBody>
          <a:bodyPr wrap="none" lIns="0" tIns="0" rIns="0" bIns="0" rtlCol="0" anchor="t"/>
          <a:lstStyle/>
          <a:p>
            <a:pPr marL="0" indent="0" algn="ctr">
              <a:lnSpc>
                <a:spcPct val="104000"/>
              </a:lnSpc>
              <a:buNone/>
            </a:pPr>
            <a:r>
              <a:rPr lang="en-US" sz="1800" dirty="0">
                <a:solidFill>
                  <a:srgbClr val="F9EEE7"/>
                </a:solidFill>
                <a:latin typeface="Quattrocento" pitchFamily="34" charset="0"/>
                <a:ea typeface="Quattrocento" pitchFamily="34" charset="-122"/>
                <a:cs typeface="Quattrocento" pitchFamily="34" charset="-120"/>
              </a:rPr>
              <a:t>Customer Service</a:t>
            </a:r>
            <a:endParaRPr lang="en-US" sz="1800" dirty="0"/>
          </a:p>
        </p:txBody>
      </p:sp>
      <p:sp>
        <p:nvSpPr>
          <p:cNvPr id="12" name="Text 9"/>
          <p:cNvSpPr/>
          <p:nvPr/>
        </p:nvSpPr>
        <p:spPr>
          <a:xfrm>
            <a:off x="6728440" y="5807792"/>
            <a:ext cx="1975377" cy="182176"/>
          </a:xfrm>
          <a:prstGeom prst="rect">
            <a:avLst/>
          </a:prstGeom>
          <a:noFill/>
          <a:ln/>
        </p:spPr>
        <p:txBody>
          <a:bodyPr wrap="none" lIns="0" tIns="0" rIns="0" bIns="0" rtlCol="0" anchor="t"/>
          <a:lstStyle/>
          <a:p>
            <a:pPr marL="0" indent="0" algn="ctr">
              <a:lnSpc>
                <a:spcPct val="78000"/>
              </a:lnSpc>
              <a:buNone/>
            </a:pPr>
            <a:r>
              <a:rPr lang="en-US" sz="1500" dirty="0">
                <a:solidFill>
                  <a:srgbClr val="F9EEE7"/>
                </a:solidFill>
                <a:latin typeface="Quattrocento" pitchFamily="34" charset="0"/>
                <a:ea typeface="Quattrocento" pitchFamily="34" charset="-122"/>
                <a:cs typeface="Quattrocento" pitchFamily="34" charset="-120"/>
              </a:rPr>
              <a:t>Own database</a:t>
            </a:r>
            <a:endParaRPr lang="en-US" sz="1500" dirty="0"/>
          </a:p>
        </p:txBody>
      </p:sp>
      <p:sp>
        <p:nvSpPr>
          <p:cNvPr id="13" name="Text 10"/>
          <p:cNvSpPr/>
          <p:nvPr/>
        </p:nvSpPr>
        <p:spPr>
          <a:xfrm>
            <a:off x="7440932" y="3390759"/>
            <a:ext cx="2018558" cy="285577"/>
          </a:xfrm>
          <a:prstGeom prst="rect">
            <a:avLst/>
          </a:prstGeom>
          <a:noFill/>
          <a:ln/>
        </p:spPr>
        <p:txBody>
          <a:bodyPr wrap="none" lIns="0" tIns="0" rIns="0" bIns="0" rtlCol="0" anchor="t"/>
          <a:lstStyle/>
          <a:p>
            <a:pPr marL="0" indent="0" algn="ctr">
              <a:lnSpc>
                <a:spcPct val="104000"/>
              </a:lnSpc>
              <a:buNone/>
            </a:pPr>
            <a:r>
              <a:rPr lang="en-US" sz="1800" dirty="0">
                <a:solidFill>
                  <a:srgbClr val="F9EEE7"/>
                </a:solidFill>
                <a:latin typeface="Quattrocento" pitchFamily="34" charset="0"/>
                <a:ea typeface="Quattrocento" pitchFamily="34" charset="-122"/>
                <a:cs typeface="Quattrocento" pitchFamily="34" charset="-120"/>
              </a:rPr>
              <a:t>API Gateway</a:t>
            </a:r>
            <a:endParaRPr lang="en-US" sz="1800" dirty="0"/>
          </a:p>
        </p:txBody>
      </p:sp>
      <p:sp>
        <p:nvSpPr>
          <p:cNvPr id="14" name="Text 11"/>
          <p:cNvSpPr/>
          <p:nvPr/>
        </p:nvSpPr>
        <p:spPr>
          <a:xfrm>
            <a:off x="7440932" y="3762701"/>
            <a:ext cx="2018558" cy="364351"/>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F9EEE7"/>
                </a:solidFill>
                <a:latin typeface="Quattrocento" pitchFamily="34" charset="0"/>
                <a:ea typeface="Quattrocento" pitchFamily="34" charset="-122"/>
                <a:cs typeface="Quattrocento" pitchFamily="34" charset="-120"/>
              </a:rPr>
              <a:t>Central routing &amp; REST</a:t>
            </a:r>
            <a:endParaRPr lang="en-US" sz="1500" dirty="0"/>
          </a:p>
        </p:txBody>
      </p:sp>
      <p:sp>
        <p:nvSpPr>
          <p:cNvPr id="15" name="Text 12"/>
          <p:cNvSpPr/>
          <p:nvPr/>
        </p:nvSpPr>
        <p:spPr>
          <a:xfrm>
            <a:off x="2712578" y="3492642"/>
            <a:ext cx="2018558" cy="285578"/>
          </a:xfrm>
          <a:prstGeom prst="rect">
            <a:avLst/>
          </a:prstGeom>
          <a:noFill/>
          <a:ln/>
        </p:spPr>
        <p:txBody>
          <a:bodyPr wrap="none" lIns="0" tIns="0" rIns="0" bIns="0" rtlCol="0" anchor="t"/>
          <a:lstStyle/>
          <a:p>
            <a:pPr marL="0" indent="0" algn="ctr">
              <a:lnSpc>
                <a:spcPct val="104000"/>
              </a:lnSpc>
              <a:buNone/>
            </a:pPr>
            <a:r>
              <a:rPr lang="en-US" sz="1800" dirty="0">
                <a:solidFill>
                  <a:srgbClr val="F9EEE7"/>
                </a:solidFill>
                <a:latin typeface="Quattrocento" pitchFamily="34" charset="0"/>
                <a:ea typeface="Quattrocento" pitchFamily="34" charset="-122"/>
                <a:cs typeface="Quattrocento" pitchFamily="34" charset="-120"/>
              </a:rPr>
              <a:t>Transaction Service</a:t>
            </a:r>
            <a:endParaRPr lang="en-US" sz="1800" dirty="0"/>
          </a:p>
        </p:txBody>
      </p:sp>
      <p:sp>
        <p:nvSpPr>
          <p:cNvPr id="16" name="Text 13"/>
          <p:cNvSpPr/>
          <p:nvPr/>
        </p:nvSpPr>
        <p:spPr>
          <a:xfrm>
            <a:off x="2712578" y="3864584"/>
            <a:ext cx="2018558" cy="182176"/>
          </a:xfrm>
          <a:prstGeom prst="rect">
            <a:avLst/>
          </a:prstGeom>
          <a:noFill/>
          <a:ln/>
        </p:spPr>
        <p:txBody>
          <a:bodyPr wrap="none" lIns="0" tIns="0" rIns="0" bIns="0" rtlCol="0" anchor="t"/>
          <a:lstStyle/>
          <a:p>
            <a:pPr marL="0" indent="0" algn="ctr">
              <a:lnSpc>
                <a:spcPct val="78000"/>
              </a:lnSpc>
              <a:buNone/>
            </a:pPr>
            <a:r>
              <a:rPr lang="en-US" sz="1500" dirty="0">
                <a:solidFill>
                  <a:srgbClr val="F9EEE7"/>
                </a:solidFill>
                <a:latin typeface="Quattrocento" pitchFamily="34" charset="0"/>
                <a:ea typeface="Quattrocento" pitchFamily="34" charset="-122"/>
                <a:cs typeface="Quattrocento" pitchFamily="34" charset="-120"/>
              </a:rPr>
              <a:t>Own database</a:t>
            </a:r>
            <a:endParaRPr lang="en-US" sz="1500" dirty="0"/>
          </a:p>
        </p:txBody>
      </p:sp>
      <p:sp>
        <p:nvSpPr>
          <p:cNvPr id="17" name="Text 14"/>
          <p:cNvSpPr/>
          <p:nvPr/>
        </p:nvSpPr>
        <p:spPr>
          <a:xfrm>
            <a:off x="2712578" y="6706813"/>
            <a:ext cx="11405108" cy="119658"/>
          </a:xfrm>
          <a:prstGeom prst="rect">
            <a:avLst/>
          </a:prstGeom>
          <a:noFill/>
          <a:ln/>
        </p:spPr>
        <p:txBody>
          <a:bodyPr wrap="none" lIns="0" tIns="0" rIns="0" bIns="0" rtlCol="0" anchor="t"/>
          <a:lstStyle/>
          <a:p>
            <a:pPr marL="0" indent="0" algn="l">
              <a:lnSpc>
                <a:spcPct val="100000"/>
              </a:lnSpc>
              <a:buNone/>
            </a:pPr>
            <a:r>
              <a:rPr lang="en-US" sz="750" dirty="0">
                <a:solidFill>
                  <a:srgbClr val="F9EEE7"/>
                </a:solidFill>
                <a:latin typeface="Quattrocento" pitchFamily="34" charset="0"/>
                <a:ea typeface="Quattrocento" pitchFamily="34" charset="-122"/>
                <a:cs typeface="Quattrocento" pitchFamily="34" charset="-120"/>
              </a:rPr>
              <a:t> Components: Clients → API Gateway → microservices. Supporting features: service discovery, distributed DBs, fault isolation, and independent scaling.</a:t>
            </a:r>
            <a:endParaRPr lang="en-US" sz="750" dirty="0"/>
          </a:p>
        </p:txBody>
      </p:sp>
      <p:sp>
        <p:nvSpPr>
          <p:cNvPr id="19" name="Shape 2">
            <a:extLst>
              <a:ext uri="{FF2B5EF4-FFF2-40B4-BE49-F238E27FC236}">
                <a16:creationId xmlns:a16="http://schemas.microsoft.com/office/drawing/2014/main" id="{5FE1CF0F-B48A-EDE9-14E4-2710FE28235D}"/>
              </a:ext>
            </a:extLst>
          </p:cNvPr>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086" y="1354237"/>
            <a:ext cx="10795524" cy="469404"/>
          </a:xfrm>
          <a:prstGeom prst="rect">
            <a:avLst/>
          </a:prstGeom>
          <a:noFill/>
          <a:ln/>
        </p:spPr>
        <p:txBody>
          <a:bodyPr wrap="none" lIns="0" tIns="0" rIns="0" bIns="0" rtlCol="0" anchor="t"/>
          <a:lstStyle/>
          <a:p>
            <a:pPr marL="0" indent="0" algn="l">
              <a:lnSpc>
                <a:spcPct val="104000"/>
              </a:lnSpc>
              <a:buNone/>
            </a:pPr>
            <a:r>
              <a:rPr lang="en-US" sz="2950" dirty="0">
                <a:solidFill>
                  <a:srgbClr val="FFD9BE"/>
                </a:solidFill>
                <a:latin typeface="Quattrocento" pitchFamily="34" charset="0"/>
                <a:ea typeface="Quattrocento" pitchFamily="34" charset="-122"/>
                <a:cs typeface="Quattrocento" pitchFamily="34" charset="-120"/>
              </a:rPr>
              <a:t>Database Design — Service-Level Ownership</a:t>
            </a:r>
            <a:endParaRPr lang="en-US" sz="2950" dirty="0"/>
          </a:p>
        </p:txBody>
      </p:sp>
      <p:sp>
        <p:nvSpPr>
          <p:cNvPr id="3" name="Text 1"/>
          <p:cNvSpPr/>
          <p:nvPr/>
        </p:nvSpPr>
        <p:spPr>
          <a:xfrm>
            <a:off x="698086" y="2222599"/>
            <a:ext cx="11405108" cy="319187"/>
          </a:xfrm>
          <a:prstGeom prst="rect">
            <a:avLst/>
          </a:prstGeom>
          <a:noFill/>
          <a:ln/>
        </p:spPr>
        <p:txBody>
          <a:bodyPr wrap="none" lIns="0" tIns="0" rIns="0" bIns="0" rtlCol="0" anchor="t"/>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         Each microservice manages the data required for its domain to reduce coupling and allow independent scaling:       </a:t>
            </a:r>
            <a:endParaRPr lang="en-US" sz="1550" dirty="0"/>
          </a:p>
        </p:txBody>
      </p:sp>
      <p:sp>
        <p:nvSpPr>
          <p:cNvPr id="4" name="Text 2"/>
          <p:cNvSpPr/>
          <p:nvPr/>
        </p:nvSpPr>
        <p:spPr>
          <a:xfrm>
            <a:off x="698086" y="2766120"/>
            <a:ext cx="10795524" cy="1874937"/>
          </a:xfrm>
          <a:prstGeom prst="rect">
            <a:avLst/>
          </a:prstGeom>
          <a:noFill/>
          <a:ln/>
        </p:spPr>
        <p:txBody>
          <a:bodyPr wrap="square" lIns="0" tIns="79791" rIns="0" bIns="0" rtlCol="0" anchor="t">
            <a:normAutofit/>
          </a:bodyPr>
          <a:lstStyle/>
          <a:p>
            <a:pPr marL="314960" indent="-314960" algn="l">
              <a:lnSpc>
                <a:spcPct val="133000"/>
              </a:lnSpc>
              <a:buSzPct val="100000"/>
              <a:buChar char="•"/>
            </a:pPr>
            <a:r>
              <a:rPr lang="en-US" sz="1550" b="1" dirty="0">
                <a:solidFill>
                  <a:srgbClr val="F9EEE7"/>
                </a:solidFill>
                <a:latin typeface="Quattrocento Bold" pitchFamily="34" charset="0"/>
                <a:ea typeface="Quattrocento Bold" pitchFamily="34" charset="-122"/>
                <a:cs typeface="Quattrocento Bold" pitchFamily="34" charset="-120"/>
              </a:rPr>
              <a:t>Customer DB</a:t>
            </a:r>
            <a:r>
              <a:rPr lang="en-US" sz="1550" dirty="0">
                <a:solidFill>
                  <a:srgbClr val="F9EEE7"/>
                </a:solidFill>
                <a:latin typeface="Quattrocento" pitchFamily="34" charset="0"/>
                <a:ea typeface="Quattrocento" pitchFamily="34" charset="-122"/>
                <a:cs typeface="Quattrocento" pitchFamily="34" charset="-120"/>
              </a:rPr>
              <a:t>: profiles, KYC documents, audit logs</a:t>
            </a:r>
            <a:endParaRPr lang="en-US" sz="1550" dirty="0"/>
          </a:p>
          <a:p>
            <a:pPr marL="314960" indent="-314960" algn="l">
              <a:lnSpc>
                <a:spcPct val="133000"/>
              </a:lnSpc>
              <a:buSzPct val="100000"/>
              <a:buChar char="•"/>
            </a:pPr>
            <a:r>
              <a:rPr lang="en-US" sz="1550" b="1" dirty="0">
                <a:solidFill>
                  <a:srgbClr val="F9EEE7"/>
                </a:solidFill>
                <a:latin typeface="Quattrocento Bold" pitchFamily="34" charset="0"/>
                <a:ea typeface="Quattrocento Bold" pitchFamily="34" charset="-122"/>
                <a:cs typeface="Quattrocento Bold" pitchFamily="34" charset="-120"/>
              </a:rPr>
              <a:t>Account DB</a:t>
            </a:r>
            <a:r>
              <a:rPr lang="en-US" sz="1550" dirty="0">
                <a:solidFill>
                  <a:srgbClr val="F9EEE7"/>
                </a:solidFill>
                <a:latin typeface="Quattrocento" pitchFamily="34" charset="0"/>
                <a:ea typeface="Quattrocento" pitchFamily="34" charset="-122"/>
                <a:cs typeface="Quattrocento" pitchFamily="34" charset="-120"/>
              </a:rPr>
              <a:t>: account metadata, balance snapshots, product links</a:t>
            </a:r>
            <a:endParaRPr lang="en-US" sz="1550" dirty="0"/>
          </a:p>
          <a:p>
            <a:pPr marL="314960" indent="-314960" algn="l">
              <a:lnSpc>
                <a:spcPct val="133000"/>
              </a:lnSpc>
              <a:buSzPct val="100000"/>
              <a:buChar char="•"/>
            </a:pPr>
            <a:r>
              <a:rPr lang="en-US" sz="1550" b="1" dirty="0">
                <a:solidFill>
                  <a:srgbClr val="F9EEE7"/>
                </a:solidFill>
                <a:latin typeface="Quattrocento Bold" pitchFamily="34" charset="0"/>
                <a:ea typeface="Quattrocento Bold" pitchFamily="34" charset="-122"/>
                <a:cs typeface="Quattrocento Bold" pitchFamily="34" charset="-120"/>
              </a:rPr>
              <a:t>Transaction DB</a:t>
            </a:r>
            <a:r>
              <a:rPr lang="en-US" sz="1550" dirty="0">
                <a:solidFill>
                  <a:srgbClr val="F9EEE7"/>
                </a:solidFill>
                <a:latin typeface="Quattrocento" pitchFamily="34" charset="0"/>
                <a:ea typeface="Quattrocento" pitchFamily="34" charset="-122"/>
                <a:cs typeface="Quattrocento" pitchFamily="34" charset="-120"/>
              </a:rPr>
              <a:t>: immutable ledger entries, timestamps, idempotency keys</a:t>
            </a:r>
            <a:endParaRPr lang="en-US" sz="1550" dirty="0"/>
          </a:p>
          <a:p>
            <a:pPr marL="314960" indent="-314960" algn="l">
              <a:lnSpc>
                <a:spcPct val="133000"/>
              </a:lnSpc>
              <a:buSzPct val="100000"/>
              <a:buChar char="•"/>
            </a:pPr>
            <a:r>
              <a:rPr lang="en-US" sz="1550" b="1" dirty="0">
                <a:solidFill>
                  <a:srgbClr val="F9EEE7"/>
                </a:solidFill>
                <a:latin typeface="Quattrocento Bold" pitchFamily="34" charset="0"/>
                <a:ea typeface="Quattrocento Bold" pitchFamily="34" charset="-122"/>
                <a:cs typeface="Quattrocento Bold" pitchFamily="34" charset="-120"/>
              </a:rPr>
              <a:t>Payment DB</a:t>
            </a:r>
            <a:r>
              <a:rPr lang="en-US" sz="1550" dirty="0">
                <a:solidFill>
                  <a:srgbClr val="F9EEE7"/>
                </a:solidFill>
                <a:latin typeface="Quattrocento" pitchFamily="34" charset="0"/>
                <a:ea typeface="Quattrocento" pitchFamily="34" charset="-122"/>
                <a:cs typeface="Quattrocento" pitchFamily="34" charset="-120"/>
              </a:rPr>
              <a:t>: settlement records, external payment statuses</a:t>
            </a:r>
            <a:endParaRPr lang="en-US" sz="1550" dirty="0"/>
          </a:p>
          <a:p>
            <a:pPr marL="314960" indent="-314960" algn="l">
              <a:lnSpc>
                <a:spcPct val="133000"/>
              </a:lnSpc>
              <a:buSzPct val="100000"/>
              <a:buChar char="•"/>
            </a:pPr>
            <a:r>
              <a:rPr lang="en-US" sz="1550" b="1" dirty="0">
                <a:solidFill>
                  <a:srgbClr val="F9EEE7"/>
                </a:solidFill>
                <a:latin typeface="Quattrocento Bold" pitchFamily="34" charset="0"/>
                <a:ea typeface="Quattrocento Bold" pitchFamily="34" charset="-122"/>
                <a:cs typeface="Quattrocento Bold" pitchFamily="34" charset="-120"/>
              </a:rPr>
              <a:t>Auth DB</a:t>
            </a:r>
            <a:r>
              <a:rPr lang="en-US" sz="1550" dirty="0">
                <a:solidFill>
                  <a:srgbClr val="F9EEE7"/>
                </a:solidFill>
                <a:latin typeface="Quattrocento" pitchFamily="34" charset="0"/>
                <a:ea typeface="Quattrocento" pitchFamily="34" charset="-122"/>
                <a:cs typeface="Quattrocento" pitchFamily="34" charset="-120"/>
              </a:rPr>
              <a:t>: credential hashes, refresh tokens, MFA state</a:t>
            </a:r>
            <a:endParaRPr lang="en-US" sz="1550" dirty="0"/>
          </a:p>
        </p:txBody>
      </p:sp>
      <p:sp>
        <p:nvSpPr>
          <p:cNvPr id="5" name="Text 3"/>
          <p:cNvSpPr/>
          <p:nvPr/>
        </p:nvSpPr>
        <p:spPr>
          <a:xfrm>
            <a:off x="698086" y="4865390"/>
            <a:ext cx="10795524"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 Key database engineering concepts applied: transaction management, concurrency control, data integrity, secure access, and eventual consistency patterns where appropriate.</a:t>
            </a:r>
            <a:endParaRPr lang="en-US" sz="1550" dirty="0"/>
          </a:p>
        </p:txBody>
      </p:sp>
      <p:sp>
        <p:nvSpPr>
          <p:cNvPr id="7" name="Shape 2">
            <a:extLst>
              <a:ext uri="{FF2B5EF4-FFF2-40B4-BE49-F238E27FC236}">
                <a16:creationId xmlns:a16="http://schemas.microsoft.com/office/drawing/2014/main" id="{14B60B07-128B-1E3F-BFD9-D44CDC6FAB34}"/>
              </a:ext>
            </a:extLst>
          </p:cNvPr>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8086" y="1265238"/>
            <a:ext cx="10795524" cy="469404"/>
          </a:xfrm>
          <a:prstGeom prst="rect">
            <a:avLst/>
          </a:prstGeom>
          <a:noFill/>
          <a:ln/>
        </p:spPr>
        <p:txBody>
          <a:bodyPr wrap="none" lIns="0" tIns="0" rIns="0" bIns="0" rtlCol="0" anchor="t"/>
          <a:lstStyle/>
          <a:p>
            <a:pPr marL="0" indent="0" algn="l">
              <a:lnSpc>
                <a:spcPct val="104000"/>
              </a:lnSpc>
              <a:buNone/>
            </a:pPr>
            <a:r>
              <a:rPr lang="en-US" sz="2950" dirty="0">
                <a:solidFill>
                  <a:srgbClr val="FFD9BE"/>
                </a:solidFill>
                <a:latin typeface="Quattrocento" pitchFamily="34" charset="0"/>
                <a:ea typeface="Quattrocento" pitchFamily="34" charset="-122"/>
                <a:cs typeface="Quattrocento" pitchFamily="34" charset="-120"/>
              </a:rPr>
              <a:t>Technology Stack</a:t>
            </a:r>
            <a:endParaRPr lang="en-US" sz="29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086" y="2133600"/>
            <a:ext cx="498661" cy="498673"/>
          </a:xfrm>
          <a:prstGeom prst="rect">
            <a:avLst/>
          </a:prstGeom>
        </p:spPr>
      </p:pic>
      <p:sp>
        <p:nvSpPr>
          <p:cNvPr id="4" name="Text 1"/>
          <p:cNvSpPr/>
          <p:nvPr/>
        </p:nvSpPr>
        <p:spPr>
          <a:xfrm>
            <a:off x="1446077" y="2133600"/>
            <a:ext cx="2684296"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Backend</a:t>
            </a:r>
            <a:endParaRPr lang="en-US" sz="1800" dirty="0"/>
          </a:p>
        </p:txBody>
      </p:sp>
      <p:sp>
        <p:nvSpPr>
          <p:cNvPr id="5" name="Text 2"/>
          <p:cNvSpPr/>
          <p:nvPr/>
        </p:nvSpPr>
        <p:spPr>
          <a:xfrm>
            <a:off x="1446077" y="2546548"/>
            <a:ext cx="2684296" cy="957560"/>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Spring Boot and Node.js (Express) — Java and JavaScript implementations.</a:t>
            </a:r>
            <a:endParaRPr lang="en-US" sz="15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79704" y="2133600"/>
            <a:ext cx="498661" cy="498673"/>
          </a:xfrm>
          <a:prstGeom prst="rect">
            <a:avLst/>
          </a:prstGeom>
        </p:spPr>
      </p:pic>
      <p:sp>
        <p:nvSpPr>
          <p:cNvPr id="7" name="Text 3"/>
          <p:cNvSpPr/>
          <p:nvPr/>
        </p:nvSpPr>
        <p:spPr>
          <a:xfrm>
            <a:off x="5127695" y="2133600"/>
            <a:ext cx="2684296"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Databases</a:t>
            </a:r>
            <a:endParaRPr lang="en-US" sz="1800" dirty="0"/>
          </a:p>
        </p:txBody>
      </p:sp>
      <p:sp>
        <p:nvSpPr>
          <p:cNvPr id="8" name="Text 4"/>
          <p:cNvSpPr/>
          <p:nvPr/>
        </p:nvSpPr>
        <p:spPr>
          <a:xfrm>
            <a:off x="5127695" y="2546548"/>
            <a:ext cx="2684296" cy="957560"/>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PostgreSQL / MySQL per service (managed or containerized).</a:t>
            </a:r>
            <a:endParaRPr lang="en-US" sz="15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61322" y="2133600"/>
            <a:ext cx="498661" cy="498673"/>
          </a:xfrm>
          <a:prstGeom prst="rect">
            <a:avLst/>
          </a:prstGeom>
        </p:spPr>
      </p:pic>
      <p:sp>
        <p:nvSpPr>
          <p:cNvPr id="10" name="Text 5"/>
          <p:cNvSpPr/>
          <p:nvPr/>
        </p:nvSpPr>
        <p:spPr>
          <a:xfrm>
            <a:off x="8809313" y="2133600"/>
            <a:ext cx="2684296"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Microservices</a:t>
            </a:r>
            <a:endParaRPr lang="en-US" sz="1800" dirty="0"/>
          </a:p>
        </p:txBody>
      </p:sp>
      <p:sp>
        <p:nvSpPr>
          <p:cNvPr id="11" name="Text 6"/>
          <p:cNvSpPr/>
          <p:nvPr/>
        </p:nvSpPr>
        <p:spPr>
          <a:xfrm>
            <a:off x="8809313" y="2546548"/>
            <a:ext cx="2684296" cy="957560"/>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Spring Cloud Eureka for discovery; Spring Cloud Gateway as API Gateway.</a:t>
            </a:r>
            <a:endParaRPr lang="en-US" sz="15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8086" y="3903067"/>
            <a:ext cx="498661" cy="498673"/>
          </a:xfrm>
          <a:prstGeom prst="rect">
            <a:avLst/>
          </a:prstGeom>
        </p:spPr>
      </p:pic>
      <p:sp>
        <p:nvSpPr>
          <p:cNvPr id="13" name="Text 7"/>
          <p:cNvSpPr/>
          <p:nvPr/>
        </p:nvSpPr>
        <p:spPr>
          <a:xfrm>
            <a:off x="1446077" y="3903067"/>
            <a:ext cx="2684296"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Security</a:t>
            </a:r>
            <a:endParaRPr lang="en-US" sz="1800" dirty="0"/>
          </a:p>
        </p:txBody>
      </p:sp>
      <p:sp>
        <p:nvSpPr>
          <p:cNvPr id="14" name="Text 8"/>
          <p:cNvSpPr/>
          <p:nvPr/>
        </p:nvSpPr>
        <p:spPr>
          <a:xfrm>
            <a:off x="1446077" y="4316016"/>
            <a:ext cx="2684296" cy="957560"/>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Spring Security + JWT tokens, HTTPS, token refresh and MFA-ready hooks.</a:t>
            </a:r>
            <a:endParaRPr lang="en-US" sz="15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79704" y="3903067"/>
            <a:ext cx="498661" cy="498673"/>
          </a:xfrm>
          <a:prstGeom prst="rect">
            <a:avLst/>
          </a:prstGeom>
        </p:spPr>
      </p:pic>
      <p:sp>
        <p:nvSpPr>
          <p:cNvPr id="16" name="Text 9"/>
          <p:cNvSpPr/>
          <p:nvPr/>
        </p:nvSpPr>
        <p:spPr>
          <a:xfrm>
            <a:off x="5127695" y="3903067"/>
            <a:ext cx="2684296"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Dev &amp; Testing</a:t>
            </a:r>
            <a:endParaRPr lang="en-US" sz="1800" dirty="0"/>
          </a:p>
        </p:txBody>
      </p:sp>
      <p:sp>
        <p:nvSpPr>
          <p:cNvPr id="17" name="Text 10"/>
          <p:cNvSpPr/>
          <p:nvPr/>
        </p:nvSpPr>
        <p:spPr>
          <a:xfrm>
            <a:off x="5127695" y="4316016"/>
            <a:ext cx="2684296" cy="1276747"/>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Docker, Postman, Swagger/OpenAPI, GitHub, IntelliJ/VS Code for CI and local development.</a:t>
            </a:r>
            <a:endParaRPr lang="en-US" sz="1550" dirty="0"/>
          </a:p>
        </p:txBody>
      </p:sp>
      <p:sp>
        <p:nvSpPr>
          <p:cNvPr id="19" name="Shape 2">
            <a:extLst>
              <a:ext uri="{FF2B5EF4-FFF2-40B4-BE49-F238E27FC236}">
                <a16:creationId xmlns:a16="http://schemas.microsoft.com/office/drawing/2014/main" id="{42A17A72-C3C6-F164-A63E-09184F0709D2}"/>
              </a:ext>
            </a:extLst>
          </p:cNvPr>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8086" y="1785541"/>
            <a:ext cx="10795524" cy="469404"/>
          </a:xfrm>
          <a:prstGeom prst="rect">
            <a:avLst/>
          </a:prstGeom>
          <a:noFill/>
          <a:ln/>
        </p:spPr>
        <p:txBody>
          <a:bodyPr wrap="none" lIns="0" tIns="0" rIns="0" bIns="0" rtlCol="0" anchor="t"/>
          <a:lstStyle/>
          <a:p>
            <a:pPr marL="0" indent="0" algn="l">
              <a:lnSpc>
                <a:spcPct val="104000"/>
              </a:lnSpc>
              <a:buNone/>
            </a:pPr>
            <a:r>
              <a:rPr lang="en-US" sz="2950" dirty="0">
                <a:solidFill>
                  <a:srgbClr val="FFD9BE"/>
                </a:solidFill>
                <a:latin typeface="Quattrocento" pitchFamily="34" charset="0"/>
                <a:ea typeface="Quattrocento" pitchFamily="34" charset="-122"/>
                <a:cs typeface="Quattrocento" pitchFamily="34" charset="-120"/>
              </a:rPr>
              <a:t>Security &amp; Reliability Patterns</a:t>
            </a:r>
            <a:endParaRPr lang="en-US" sz="2950" dirty="0"/>
          </a:p>
        </p:txBody>
      </p:sp>
      <p:sp>
        <p:nvSpPr>
          <p:cNvPr id="3" name="Text 1"/>
          <p:cNvSpPr/>
          <p:nvPr/>
        </p:nvSpPr>
        <p:spPr>
          <a:xfrm>
            <a:off x="698086" y="2653903"/>
            <a:ext cx="11405108" cy="319187"/>
          </a:xfrm>
          <a:prstGeom prst="rect">
            <a:avLst/>
          </a:prstGeom>
          <a:noFill/>
          <a:ln/>
        </p:spPr>
        <p:txBody>
          <a:bodyPr wrap="none" lIns="0" tIns="0" rIns="0" bIns="0" rtlCol="0" anchor="t"/>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         Security and resilience are first-class concerns:       </a:t>
            </a:r>
            <a:endParaRPr lang="en-US" sz="1550" dirty="0"/>
          </a:p>
        </p:txBody>
      </p:sp>
      <p:sp>
        <p:nvSpPr>
          <p:cNvPr id="4" name="Text 2"/>
          <p:cNvSpPr/>
          <p:nvPr/>
        </p:nvSpPr>
        <p:spPr>
          <a:xfrm>
            <a:off x="698086" y="3197423"/>
            <a:ext cx="10795524" cy="1874937"/>
          </a:xfrm>
          <a:prstGeom prst="rect">
            <a:avLst/>
          </a:prstGeom>
          <a:noFill/>
          <a:ln/>
        </p:spPr>
        <p:txBody>
          <a:bodyPr wrap="square" lIns="0" tIns="79791" rIns="0" bIns="0" rtlCol="0" anchor="t">
            <a:normAutofit/>
          </a:bodyPr>
          <a:lstStyle/>
          <a:p>
            <a:pPr marL="314960" indent="-314960" algn="l">
              <a:lnSpc>
                <a:spcPct val="133000"/>
              </a:lnSpc>
              <a:buSzPct val="100000"/>
              <a:buChar char="•"/>
            </a:pPr>
            <a:r>
              <a:rPr lang="en-US" sz="1550" dirty="0">
                <a:solidFill>
                  <a:srgbClr val="F9EEE7"/>
                </a:solidFill>
                <a:latin typeface="Quattrocento" pitchFamily="34" charset="0"/>
                <a:ea typeface="Quattrocento" pitchFamily="34" charset="-122"/>
                <a:cs typeface="Quattrocento" pitchFamily="34" charset="-120"/>
              </a:rPr>
              <a:t>Authentication: JWT + refresh tokens, password hashing, optional MFA</a:t>
            </a:r>
            <a:endParaRPr lang="en-US" sz="1550" dirty="0"/>
          </a:p>
          <a:p>
            <a:pPr marL="314960" indent="-314960" algn="l">
              <a:lnSpc>
                <a:spcPct val="133000"/>
              </a:lnSpc>
              <a:buSzPct val="100000"/>
              <a:buChar char="•"/>
            </a:pPr>
            <a:r>
              <a:rPr lang="en-US" sz="1550" dirty="0">
                <a:solidFill>
                  <a:srgbClr val="F9EEE7"/>
                </a:solidFill>
                <a:latin typeface="Quattrocento" pitchFamily="34" charset="0"/>
                <a:ea typeface="Quattrocento" pitchFamily="34" charset="-122"/>
                <a:cs typeface="Quattrocento" pitchFamily="34" charset="-120"/>
              </a:rPr>
              <a:t>Authorization: role-based scopes enforced at gateway and service level</a:t>
            </a:r>
            <a:endParaRPr lang="en-US" sz="1550" dirty="0"/>
          </a:p>
          <a:p>
            <a:pPr marL="314960" indent="-314960" algn="l">
              <a:lnSpc>
                <a:spcPct val="133000"/>
              </a:lnSpc>
              <a:buSzPct val="100000"/>
              <a:buChar char="•"/>
            </a:pPr>
            <a:r>
              <a:rPr lang="en-US" sz="1550" dirty="0">
                <a:solidFill>
                  <a:srgbClr val="F9EEE7"/>
                </a:solidFill>
                <a:latin typeface="Quattrocento" pitchFamily="34" charset="0"/>
                <a:ea typeface="Quattrocento" pitchFamily="34" charset="-122"/>
                <a:cs typeface="Quattrocento" pitchFamily="34" charset="-120"/>
              </a:rPr>
              <a:t>Transport: TLS for all inter-service and client traffic</a:t>
            </a:r>
            <a:endParaRPr lang="en-US" sz="1550" dirty="0"/>
          </a:p>
          <a:p>
            <a:pPr marL="314960" indent="-314960" algn="l">
              <a:lnSpc>
                <a:spcPct val="133000"/>
              </a:lnSpc>
              <a:buSzPct val="100000"/>
              <a:buChar char="•"/>
            </a:pPr>
            <a:r>
              <a:rPr lang="en-US" sz="1550" dirty="0">
                <a:solidFill>
                  <a:srgbClr val="F9EEE7"/>
                </a:solidFill>
                <a:latin typeface="Quattrocento" pitchFamily="34" charset="0"/>
                <a:ea typeface="Quattrocento" pitchFamily="34" charset="-122"/>
                <a:cs typeface="Quattrocento" pitchFamily="34" charset="-120"/>
              </a:rPr>
              <a:t>Resilience: circuit breakers, retries with backoff, bulkheads</a:t>
            </a:r>
            <a:endParaRPr lang="en-US" sz="1550" dirty="0"/>
          </a:p>
          <a:p>
            <a:pPr marL="314960" indent="-314960" algn="l">
              <a:lnSpc>
                <a:spcPct val="133000"/>
              </a:lnSpc>
              <a:buSzPct val="100000"/>
              <a:buChar char="•"/>
            </a:pPr>
            <a:r>
              <a:rPr lang="en-US" sz="1550" dirty="0">
                <a:solidFill>
                  <a:srgbClr val="F9EEE7"/>
                </a:solidFill>
                <a:latin typeface="Quattrocento" pitchFamily="34" charset="0"/>
                <a:ea typeface="Quattrocento" pitchFamily="34" charset="-122"/>
                <a:cs typeface="Quattrocento" pitchFamily="34" charset="-120"/>
              </a:rPr>
              <a:t>Observability: centralized logging, distributed tracing, metrics and alerts</a:t>
            </a:r>
            <a:endParaRPr lang="en-US" sz="1550" dirty="0"/>
          </a:p>
        </p:txBody>
      </p:sp>
      <p:sp>
        <p:nvSpPr>
          <p:cNvPr id="6" name="Shape 2">
            <a:extLst>
              <a:ext uri="{FF2B5EF4-FFF2-40B4-BE49-F238E27FC236}">
                <a16:creationId xmlns:a16="http://schemas.microsoft.com/office/drawing/2014/main" id="{BE48476D-E6EA-289A-5775-38ABC4392AD4}"/>
              </a:ext>
            </a:extLst>
          </p:cNvPr>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8086" y="903883"/>
            <a:ext cx="10795524" cy="469404"/>
          </a:xfrm>
          <a:prstGeom prst="rect">
            <a:avLst/>
          </a:prstGeom>
          <a:noFill/>
          <a:ln/>
        </p:spPr>
        <p:txBody>
          <a:bodyPr wrap="none" lIns="0" tIns="0" rIns="0" bIns="0" rtlCol="0" anchor="t"/>
          <a:lstStyle/>
          <a:p>
            <a:pPr marL="0" indent="0" algn="l">
              <a:lnSpc>
                <a:spcPct val="104000"/>
              </a:lnSpc>
              <a:buNone/>
            </a:pPr>
            <a:r>
              <a:rPr lang="en-US" sz="2950" dirty="0">
                <a:solidFill>
                  <a:srgbClr val="FFD9BE"/>
                </a:solidFill>
                <a:latin typeface="Quattrocento" pitchFamily="34" charset="0"/>
                <a:ea typeface="Quattrocento" pitchFamily="34" charset="-122"/>
                <a:cs typeface="Quattrocento" pitchFamily="34" charset="-120"/>
              </a:rPr>
              <a:t>Advantages &amp; Expected Outcome</a:t>
            </a:r>
            <a:endParaRPr lang="en-US" sz="2950" dirty="0"/>
          </a:p>
        </p:txBody>
      </p:sp>
      <p:sp>
        <p:nvSpPr>
          <p:cNvPr id="3" name="Shape 1"/>
          <p:cNvSpPr/>
          <p:nvPr/>
        </p:nvSpPr>
        <p:spPr>
          <a:xfrm>
            <a:off x="698086" y="1672431"/>
            <a:ext cx="5298049" cy="1450181"/>
          </a:xfrm>
          <a:prstGeom prst="roundRect">
            <a:avLst>
              <a:gd name="adj" fmla="val 2063"/>
            </a:avLst>
          </a:prstGeom>
          <a:solidFill>
            <a:srgbClr val="315251"/>
          </a:solidFill>
          <a:ln/>
        </p:spPr>
        <p:txBody>
          <a:bodyPr/>
          <a:lstStyle/>
          <a:p>
            <a:endParaRPr lang="en-IN"/>
          </a:p>
        </p:txBody>
      </p:sp>
      <p:sp>
        <p:nvSpPr>
          <p:cNvPr id="4" name="Text 2"/>
          <p:cNvSpPr/>
          <p:nvPr/>
        </p:nvSpPr>
        <p:spPr>
          <a:xfrm>
            <a:off x="897510" y="1871861"/>
            <a:ext cx="4899200"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Scalability</a:t>
            </a:r>
            <a:endParaRPr lang="en-US" sz="1800" dirty="0"/>
          </a:p>
        </p:txBody>
      </p:sp>
      <p:sp>
        <p:nvSpPr>
          <p:cNvPr id="5" name="Text 3"/>
          <p:cNvSpPr/>
          <p:nvPr/>
        </p:nvSpPr>
        <p:spPr>
          <a:xfrm>
            <a:off x="897510" y="2284809"/>
            <a:ext cx="4899200"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Scale individual services based on workload (e.g., Transaction service for peak hours).</a:t>
            </a:r>
            <a:endParaRPr lang="en-US" sz="1550" dirty="0"/>
          </a:p>
        </p:txBody>
      </p:sp>
      <p:sp>
        <p:nvSpPr>
          <p:cNvPr id="6" name="Shape 4"/>
          <p:cNvSpPr/>
          <p:nvPr/>
        </p:nvSpPr>
        <p:spPr>
          <a:xfrm>
            <a:off x="6195560" y="1672431"/>
            <a:ext cx="5298049" cy="1450181"/>
          </a:xfrm>
          <a:prstGeom prst="roundRect">
            <a:avLst>
              <a:gd name="adj" fmla="val 2063"/>
            </a:avLst>
          </a:prstGeom>
          <a:solidFill>
            <a:srgbClr val="315251"/>
          </a:solidFill>
          <a:ln/>
        </p:spPr>
        <p:txBody>
          <a:bodyPr/>
          <a:lstStyle/>
          <a:p>
            <a:endParaRPr lang="en-IN"/>
          </a:p>
        </p:txBody>
      </p:sp>
      <p:sp>
        <p:nvSpPr>
          <p:cNvPr id="7" name="Text 5"/>
          <p:cNvSpPr/>
          <p:nvPr/>
        </p:nvSpPr>
        <p:spPr>
          <a:xfrm>
            <a:off x="6394985" y="1871861"/>
            <a:ext cx="4899200"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Fault Isolation</a:t>
            </a:r>
            <a:endParaRPr lang="en-US" sz="1800" dirty="0"/>
          </a:p>
        </p:txBody>
      </p:sp>
      <p:sp>
        <p:nvSpPr>
          <p:cNvPr id="8" name="Text 6"/>
          <p:cNvSpPr/>
          <p:nvPr/>
        </p:nvSpPr>
        <p:spPr>
          <a:xfrm>
            <a:off x="6394985" y="2284809"/>
            <a:ext cx="4899200"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Service failures are contained; degraded service can be routed or throttled without full system outage.</a:t>
            </a:r>
            <a:endParaRPr lang="en-US" sz="1550" dirty="0"/>
          </a:p>
        </p:txBody>
      </p:sp>
      <p:sp>
        <p:nvSpPr>
          <p:cNvPr id="9" name="Shape 7"/>
          <p:cNvSpPr/>
          <p:nvPr/>
        </p:nvSpPr>
        <p:spPr>
          <a:xfrm>
            <a:off x="698086" y="3322042"/>
            <a:ext cx="5298049" cy="1769368"/>
          </a:xfrm>
          <a:prstGeom prst="roundRect">
            <a:avLst>
              <a:gd name="adj" fmla="val 1691"/>
            </a:avLst>
          </a:prstGeom>
          <a:solidFill>
            <a:srgbClr val="315251"/>
          </a:solidFill>
          <a:ln/>
        </p:spPr>
        <p:txBody>
          <a:bodyPr/>
          <a:lstStyle/>
          <a:p>
            <a:endParaRPr lang="en-IN"/>
          </a:p>
        </p:txBody>
      </p:sp>
      <p:sp>
        <p:nvSpPr>
          <p:cNvPr id="10" name="Text 8"/>
          <p:cNvSpPr/>
          <p:nvPr/>
        </p:nvSpPr>
        <p:spPr>
          <a:xfrm>
            <a:off x="897510" y="3521472"/>
            <a:ext cx="4899200"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Security &amp; Maintainability</a:t>
            </a:r>
            <a:endParaRPr lang="en-US" sz="1800" dirty="0"/>
          </a:p>
        </p:txBody>
      </p:sp>
      <p:sp>
        <p:nvSpPr>
          <p:cNvPr id="11" name="Text 9"/>
          <p:cNvSpPr/>
          <p:nvPr/>
        </p:nvSpPr>
        <p:spPr>
          <a:xfrm>
            <a:off x="897510" y="3934420"/>
            <a:ext cx="4899200" cy="957560"/>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Separated auth domain and secure APIs reduce attack surface; independent deployments simplify maintenance.</a:t>
            </a:r>
            <a:endParaRPr lang="en-US" sz="1550" dirty="0"/>
          </a:p>
        </p:txBody>
      </p:sp>
      <p:sp>
        <p:nvSpPr>
          <p:cNvPr id="12" name="Shape 10"/>
          <p:cNvSpPr/>
          <p:nvPr/>
        </p:nvSpPr>
        <p:spPr>
          <a:xfrm>
            <a:off x="6195560" y="3322042"/>
            <a:ext cx="5298049" cy="1769368"/>
          </a:xfrm>
          <a:prstGeom prst="roundRect">
            <a:avLst>
              <a:gd name="adj" fmla="val 1691"/>
            </a:avLst>
          </a:prstGeom>
          <a:solidFill>
            <a:srgbClr val="315251"/>
          </a:solidFill>
          <a:ln/>
        </p:spPr>
        <p:txBody>
          <a:bodyPr/>
          <a:lstStyle/>
          <a:p>
            <a:endParaRPr lang="en-IN"/>
          </a:p>
        </p:txBody>
      </p:sp>
      <p:sp>
        <p:nvSpPr>
          <p:cNvPr id="13" name="Text 11"/>
          <p:cNvSpPr/>
          <p:nvPr/>
        </p:nvSpPr>
        <p:spPr>
          <a:xfrm>
            <a:off x="6394985" y="3521472"/>
            <a:ext cx="4899200"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Performance</a:t>
            </a:r>
            <a:endParaRPr lang="en-US" sz="1800" dirty="0"/>
          </a:p>
        </p:txBody>
      </p:sp>
      <p:sp>
        <p:nvSpPr>
          <p:cNvPr id="14" name="Text 12"/>
          <p:cNvSpPr/>
          <p:nvPr/>
        </p:nvSpPr>
        <p:spPr>
          <a:xfrm>
            <a:off x="6394985" y="3934420"/>
            <a:ext cx="4899200"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Specialized services and tuned databases deliver efficient handling of diverse workloads.</a:t>
            </a:r>
            <a:endParaRPr lang="en-US" sz="1550" dirty="0"/>
          </a:p>
        </p:txBody>
      </p:sp>
      <p:sp>
        <p:nvSpPr>
          <p:cNvPr id="15" name="Text 13"/>
          <p:cNvSpPr/>
          <p:nvPr/>
        </p:nvSpPr>
        <p:spPr>
          <a:xfrm>
            <a:off x="698086" y="5315744"/>
            <a:ext cx="10795524"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 Expected deliverable: a working prototype demonstrating microservices, distributed data ownership, secure API flows, and end-to-end transactions.</a:t>
            </a:r>
            <a:endParaRPr lang="en-US" sz="1550" dirty="0"/>
          </a:p>
        </p:txBody>
      </p:sp>
      <p:sp>
        <p:nvSpPr>
          <p:cNvPr id="17" name="Shape 2">
            <a:extLst>
              <a:ext uri="{FF2B5EF4-FFF2-40B4-BE49-F238E27FC236}">
                <a16:creationId xmlns:a16="http://schemas.microsoft.com/office/drawing/2014/main" id="{83965676-7ACE-A5D6-5089-7B36094EDE9F}"/>
              </a:ext>
            </a:extLst>
          </p:cNvPr>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98086" y="1280021"/>
            <a:ext cx="10795524" cy="469404"/>
          </a:xfrm>
          <a:prstGeom prst="rect">
            <a:avLst/>
          </a:prstGeom>
          <a:noFill/>
          <a:ln/>
        </p:spPr>
        <p:txBody>
          <a:bodyPr wrap="none" lIns="0" tIns="0" rIns="0" bIns="0" rtlCol="0" anchor="t"/>
          <a:lstStyle/>
          <a:p>
            <a:pPr marL="0" indent="0" algn="l">
              <a:lnSpc>
                <a:spcPct val="104000"/>
              </a:lnSpc>
              <a:buNone/>
            </a:pPr>
            <a:r>
              <a:rPr lang="en-US" sz="2950" dirty="0">
                <a:solidFill>
                  <a:srgbClr val="FFD9BE"/>
                </a:solidFill>
                <a:latin typeface="Quattrocento" pitchFamily="34" charset="0"/>
                <a:ea typeface="Quattrocento" pitchFamily="34" charset="-122"/>
                <a:cs typeface="Quattrocento" pitchFamily="34" charset="-120"/>
              </a:rPr>
              <a:t>Next Steps &amp; Project Plan</a:t>
            </a:r>
            <a:endParaRPr lang="en-US" sz="2950" dirty="0"/>
          </a:p>
        </p:txBody>
      </p:sp>
      <p:sp>
        <p:nvSpPr>
          <p:cNvPr id="3" name="Text 1"/>
          <p:cNvSpPr/>
          <p:nvPr/>
        </p:nvSpPr>
        <p:spPr>
          <a:xfrm>
            <a:off x="698086" y="2048570"/>
            <a:ext cx="398949" cy="249337"/>
          </a:xfrm>
          <a:prstGeom prst="rect">
            <a:avLst/>
          </a:prstGeom>
          <a:noFill/>
          <a:ln/>
        </p:spPr>
        <p:txBody>
          <a:bodyPr wrap="none" lIns="0" tIns="0" rIns="0" bIns="0" rtlCol="0" anchor="ctr"/>
          <a:lstStyle/>
          <a:p>
            <a:pPr marL="0" indent="0" algn="l">
              <a:lnSpc>
                <a:spcPct val="100000"/>
              </a:lnSpc>
              <a:buNone/>
            </a:pPr>
            <a:r>
              <a:rPr lang="en-US" sz="1550" dirty="0">
                <a:solidFill>
                  <a:srgbClr val="F9EEE7"/>
                </a:solidFill>
                <a:latin typeface="Quattrocento" pitchFamily="34" charset="0"/>
                <a:ea typeface="Quattrocento" pitchFamily="34" charset="-122"/>
                <a:cs typeface="Quattrocento" pitchFamily="34" charset="-120"/>
              </a:rPr>
              <a:t>01</a:t>
            </a:r>
            <a:endParaRPr lang="en-US" sz="1550" dirty="0"/>
          </a:p>
        </p:txBody>
      </p:sp>
      <p:sp>
        <p:nvSpPr>
          <p:cNvPr id="4" name="Shape 2"/>
          <p:cNvSpPr/>
          <p:nvPr/>
        </p:nvSpPr>
        <p:spPr>
          <a:xfrm>
            <a:off x="698086" y="2362200"/>
            <a:ext cx="5298049" cy="25400"/>
          </a:xfrm>
          <a:prstGeom prst="rect">
            <a:avLst/>
          </a:prstGeom>
          <a:solidFill>
            <a:srgbClr val="EF9C82"/>
          </a:solidFill>
          <a:ln/>
        </p:spPr>
        <p:txBody>
          <a:bodyPr/>
          <a:lstStyle/>
          <a:p>
            <a:endParaRPr lang="en-IN"/>
          </a:p>
        </p:txBody>
      </p:sp>
      <p:sp>
        <p:nvSpPr>
          <p:cNvPr id="5" name="Text 3"/>
          <p:cNvSpPr/>
          <p:nvPr/>
        </p:nvSpPr>
        <p:spPr>
          <a:xfrm>
            <a:off x="698086" y="2512715"/>
            <a:ext cx="5298049"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Phase 1 — Core Services</a:t>
            </a:r>
            <a:endParaRPr lang="en-US" sz="1800" dirty="0"/>
          </a:p>
        </p:txBody>
      </p:sp>
      <p:sp>
        <p:nvSpPr>
          <p:cNvPr id="6" name="Text 4"/>
          <p:cNvSpPr/>
          <p:nvPr/>
        </p:nvSpPr>
        <p:spPr>
          <a:xfrm>
            <a:off x="698086" y="2925663"/>
            <a:ext cx="5298049"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Implement Customer, Account, and Auth services with DB schemas and basic REST APIs.</a:t>
            </a:r>
            <a:endParaRPr lang="en-US" sz="1550" dirty="0"/>
          </a:p>
        </p:txBody>
      </p:sp>
      <p:sp>
        <p:nvSpPr>
          <p:cNvPr id="7" name="Text 5"/>
          <p:cNvSpPr/>
          <p:nvPr/>
        </p:nvSpPr>
        <p:spPr>
          <a:xfrm>
            <a:off x="6195560" y="2048570"/>
            <a:ext cx="398949" cy="249337"/>
          </a:xfrm>
          <a:prstGeom prst="rect">
            <a:avLst/>
          </a:prstGeom>
          <a:noFill/>
          <a:ln/>
        </p:spPr>
        <p:txBody>
          <a:bodyPr wrap="none" lIns="0" tIns="0" rIns="0" bIns="0" rtlCol="0" anchor="ctr"/>
          <a:lstStyle/>
          <a:p>
            <a:pPr marL="0" indent="0" algn="l">
              <a:lnSpc>
                <a:spcPct val="100000"/>
              </a:lnSpc>
              <a:buNone/>
            </a:pPr>
            <a:r>
              <a:rPr lang="en-US" sz="1550" dirty="0">
                <a:solidFill>
                  <a:srgbClr val="F9EEE7"/>
                </a:solidFill>
                <a:latin typeface="Quattrocento" pitchFamily="34" charset="0"/>
                <a:ea typeface="Quattrocento" pitchFamily="34" charset="-122"/>
                <a:cs typeface="Quattrocento" pitchFamily="34" charset="-120"/>
              </a:rPr>
              <a:t>02</a:t>
            </a:r>
            <a:endParaRPr lang="en-US" sz="1550" dirty="0"/>
          </a:p>
        </p:txBody>
      </p:sp>
      <p:sp>
        <p:nvSpPr>
          <p:cNvPr id="8" name="Shape 6"/>
          <p:cNvSpPr/>
          <p:nvPr/>
        </p:nvSpPr>
        <p:spPr>
          <a:xfrm>
            <a:off x="6195560" y="2362200"/>
            <a:ext cx="5298049" cy="25400"/>
          </a:xfrm>
          <a:prstGeom prst="rect">
            <a:avLst/>
          </a:prstGeom>
          <a:solidFill>
            <a:srgbClr val="EF9C82"/>
          </a:solidFill>
          <a:ln/>
        </p:spPr>
        <p:txBody>
          <a:bodyPr/>
          <a:lstStyle/>
          <a:p>
            <a:endParaRPr lang="en-IN"/>
          </a:p>
        </p:txBody>
      </p:sp>
      <p:sp>
        <p:nvSpPr>
          <p:cNvPr id="9" name="Text 7"/>
          <p:cNvSpPr/>
          <p:nvPr/>
        </p:nvSpPr>
        <p:spPr>
          <a:xfrm>
            <a:off x="6195560" y="2512715"/>
            <a:ext cx="5298049"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Phase 2 — Transactions &amp; Payments</a:t>
            </a:r>
            <a:endParaRPr lang="en-US" sz="1800" dirty="0"/>
          </a:p>
        </p:txBody>
      </p:sp>
      <p:sp>
        <p:nvSpPr>
          <p:cNvPr id="10" name="Text 8"/>
          <p:cNvSpPr/>
          <p:nvPr/>
        </p:nvSpPr>
        <p:spPr>
          <a:xfrm>
            <a:off x="6195560" y="2925663"/>
            <a:ext cx="5298049"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Build Transaction and Payment services with idempotency, reconciliation, and durability.</a:t>
            </a:r>
            <a:endParaRPr lang="en-US" sz="1550" dirty="0"/>
          </a:p>
        </p:txBody>
      </p:sp>
      <p:sp>
        <p:nvSpPr>
          <p:cNvPr id="11" name="Text 9"/>
          <p:cNvSpPr/>
          <p:nvPr/>
        </p:nvSpPr>
        <p:spPr>
          <a:xfrm>
            <a:off x="698086" y="3912989"/>
            <a:ext cx="398949" cy="249337"/>
          </a:xfrm>
          <a:prstGeom prst="rect">
            <a:avLst/>
          </a:prstGeom>
          <a:noFill/>
          <a:ln/>
        </p:spPr>
        <p:txBody>
          <a:bodyPr wrap="none" lIns="0" tIns="0" rIns="0" bIns="0" rtlCol="0" anchor="ctr"/>
          <a:lstStyle/>
          <a:p>
            <a:pPr marL="0" indent="0" algn="l">
              <a:lnSpc>
                <a:spcPct val="100000"/>
              </a:lnSpc>
              <a:buNone/>
            </a:pPr>
            <a:r>
              <a:rPr lang="en-US" sz="1550" dirty="0">
                <a:solidFill>
                  <a:srgbClr val="F9EEE7"/>
                </a:solidFill>
                <a:latin typeface="Quattrocento" pitchFamily="34" charset="0"/>
                <a:ea typeface="Quattrocento" pitchFamily="34" charset="-122"/>
                <a:cs typeface="Quattrocento" pitchFamily="34" charset="-120"/>
              </a:rPr>
              <a:t>03</a:t>
            </a:r>
            <a:endParaRPr lang="en-US" sz="1550" dirty="0"/>
          </a:p>
        </p:txBody>
      </p:sp>
      <p:sp>
        <p:nvSpPr>
          <p:cNvPr id="12" name="Shape 10"/>
          <p:cNvSpPr/>
          <p:nvPr/>
        </p:nvSpPr>
        <p:spPr>
          <a:xfrm>
            <a:off x="698086" y="4226620"/>
            <a:ext cx="5298049" cy="25400"/>
          </a:xfrm>
          <a:prstGeom prst="rect">
            <a:avLst/>
          </a:prstGeom>
          <a:solidFill>
            <a:srgbClr val="EF9C82"/>
          </a:solidFill>
          <a:ln/>
        </p:spPr>
        <p:txBody>
          <a:bodyPr/>
          <a:lstStyle/>
          <a:p>
            <a:endParaRPr lang="en-IN"/>
          </a:p>
        </p:txBody>
      </p:sp>
      <p:sp>
        <p:nvSpPr>
          <p:cNvPr id="13" name="Text 11"/>
          <p:cNvSpPr/>
          <p:nvPr/>
        </p:nvSpPr>
        <p:spPr>
          <a:xfrm>
            <a:off x="698086" y="4377134"/>
            <a:ext cx="5298049"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Phase 3 — Ops &amp; Hardening</a:t>
            </a:r>
            <a:endParaRPr lang="en-US" sz="1800" dirty="0"/>
          </a:p>
        </p:txBody>
      </p:sp>
      <p:sp>
        <p:nvSpPr>
          <p:cNvPr id="14" name="Text 12"/>
          <p:cNvSpPr/>
          <p:nvPr/>
        </p:nvSpPr>
        <p:spPr>
          <a:xfrm>
            <a:off x="698086" y="4790083"/>
            <a:ext cx="5298049"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Integrate API Gateway, service discovery, security hardening, observability, and CI/CD pipelines.</a:t>
            </a:r>
            <a:endParaRPr lang="en-US" sz="1550" dirty="0"/>
          </a:p>
        </p:txBody>
      </p:sp>
      <p:sp>
        <p:nvSpPr>
          <p:cNvPr id="15" name="Text 13"/>
          <p:cNvSpPr/>
          <p:nvPr/>
        </p:nvSpPr>
        <p:spPr>
          <a:xfrm>
            <a:off x="6195560" y="3912989"/>
            <a:ext cx="398949" cy="249337"/>
          </a:xfrm>
          <a:prstGeom prst="rect">
            <a:avLst/>
          </a:prstGeom>
          <a:noFill/>
          <a:ln/>
        </p:spPr>
        <p:txBody>
          <a:bodyPr wrap="none" lIns="0" tIns="0" rIns="0" bIns="0" rtlCol="0" anchor="ctr"/>
          <a:lstStyle/>
          <a:p>
            <a:pPr marL="0" indent="0" algn="l">
              <a:lnSpc>
                <a:spcPct val="100000"/>
              </a:lnSpc>
              <a:buNone/>
            </a:pPr>
            <a:r>
              <a:rPr lang="en-US" sz="1550" dirty="0">
                <a:solidFill>
                  <a:srgbClr val="F9EEE7"/>
                </a:solidFill>
                <a:latin typeface="Quattrocento" pitchFamily="34" charset="0"/>
                <a:ea typeface="Quattrocento" pitchFamily="34" charset="-122"/>
                <a:cs typeface="Quattrocento" pitchFamily="34" charset="-120"/>
              </a:rPr>
              <a:t>04</a:t>
            </a:r>
            <a:endParaRPr lang="en-US" sz="1550" dirty="0"/>
          </a:p>
        </p:txBody>
      </p:sp>
      <p:sp>
        <p:nvSpPr>
          <p:cNvPr id="16" name="Shape 14"/>
          <p:cNvSpPr/>
          <p:nvPr/>
        </p:nvSpPr>
        <p:spPr>
          <a:xfrm>
            <a:off x="6195560" y="4226620"/>
            <a:ext cx="5298049" cy="25400"/>
          </a:xfrm>
          <a:prstGeom prst="rect">
            <a:avLst/>
          </a:prstGeom>
          <a:solidFill>
            <a:srgbClr val="EF9C82"/>
          </a:solidFill>
          <a:ln/>
        </p:spPr>
        <p:txBody>
          <a:bodyPr/>
          <a:lstStyle/>
          <a:p>
            <a:endParaRPr lang="en-IN"/>
          </a:p>
        </p:txBody>
      </p:sp>
      <p:sp>
        <p:nvSpPr>
          <p:cNvPr id="17" name="Text 15"/>
          <p:cNvSpPr/>
          <p:nvPr/>
        </p:nvSpPr>
        <p:spPr>
          <a:xfrm>
            <a:off x="6195560" y="4377134"/>
            <a:ext cx="5298049" cy="293291"/>
          </a:xfrm>
          <a:prstGeom prst="rect">
            <a:avLst/>
          </a:prstGeom>
          <a:noFill/>
          <a:ln/>
        </p:spPr>
        <p:txBody>
          <a:bodyPr wrap="none" lIns="0" tIns="0" rIns="0" bIns="0" rtlCol="0" anchor="t"/>
          <a:lstStyle/>
          <a:p>
            <a:pPr marL="0" indent="0" algn="l">
              <a:lnSpc>
                <a:spcPct val="104000"/>
              </a:lnSpc>
              <a:buNone/>
            </a:pPr>
            <a:r>
              <a:rPr lang="en-US" sz="1800" dirty="0">
                <a:solidFill>
                  <a:srgbClr val="F9EEE7"/>
                </a:solidFill>
                <a:latin typeface="Quattrocento" pitchFamily="34" charset="0"/>
                <a:ea typeface="Quattrocento" pitchFamily="34" charset="-122"/>
                <a:cs typeface="Quattrocento" pitchFamily="34" charset="-120"/>
              </a:rPr>
              <a:t>Deliverables</a:t>
            </a:r>
            <a:endParaRPr lang="en-US" sz="1800" dirty="0"/>
          </a:p>
        </p:txBody>
      </p:sp>
      <p:sp>
        <p:nvSpPr>
          <p:cNvPr id="18" name="Text 16"/>
          <p:cNvSpPr/>
          <p:nvPr/>
        </p:nvSpPr>
        <p:spPr>
          <a:xfrm>
            <a:off x="6195560" y="4790083"/>
            <a:ext cx="5298049"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Prototype codebase, architecture docs, demo scenarios, and evaluation report for the course.</a:t>
            </a:r>
            <a:endParaRPr lang="en-US" sz="1550" dirty="0"/>
          </a:p>
        </p:txBody>
      </p:sp>
      <p:sp>
        <p:nvSpPr>
          <p:cNvPr id="20" name="Shape 2">
            <a:extLst>
              <a:ext uri="{FF2B5EF4-FFF2-40B4-BE49-F238E27FC236}">
                <a16:creationId xmlns:a16="http://schemas.microsoft.com/office/drawing/2014/main" id="{9D1B3D4D-7B78-A93D-1DDC-21A9016DB7FA}"/>
              </a:ext>
            </a:extLst>
          </p:cNvPr>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6B3E9-BF32-2B5A-A00C-E3B11C5DABF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3F4DC83-765A-39C7-BEB5-3FD66C4AC1A2}"/>
              </a:ext>
            </a:extLst>
          </p:cNvPr>
          <p:cNvSpPr/>
          <p:nvPr/>
        </p:nvSpPr>
        <p:spPr>
          <a:xfrm>
            <a:off x="4132316" y="2842320"/>
            <a:ext cx="10795524" cy="586680"/>
          </a:xfrm>
          <a:prstGeom prst="rect">
            <a:avLst/>
          </a:prstGeom>
          <a:noFill/>
          <a:ln/>
        </p:spPr>
        <p:txBody>
          <a:bodyPr wrap="none" lIns="0" tIns="0" rIns="0" bIns="0" rtlCol="0" anchor="t"/>
          <a:lstStyle/>
          <a:p>
            <a:pPr marL="0" indent="0" algn="l">
              <a:lnSpc>
                <a:spcPct val="104000"/>
              </a:lnSpc>
              <a:buNone/>
            </a:pPr>
            <a:r>
              <a:rPr lang="en-US" sz="3650" dirty="0">
                <a:solidFill>
                  <a:srgbClr val="FFD9BE"/>
                </a:solidFill>
                <a:latin typeface="Quattrocento" pitchFamily="34" charset="0"/>
                <a:ea typeface="Quattrocento" pitchFamily="34" charset="-122"/>
                <a:cs typeface="Quattrocento" pitchFamily="34" charset="-120"/>
              </a:rPr>
              <a:t>THANK YOU</a:t>
            </a:r>
            <a:endParaRPr lang="en-US" sz="3650" dirty="0"/>
          </a:p>
        </p:txBody>
      </p:sp>
      <p:sp>
        <p:nvSpPr>
          <p:cNvPr id="3" name="Text 1">
            <a:extLst>
              <a:ext uri="{FF2B5EF4-FFF2-40B4-BE49-F238E27FC236}">
                <a16:creationId xmlns:a16="http://schemas.microsoft.com/office/drawing/2014/main" id="{63B4B873-C3D3-9DB5-631C-BA3175A30277}"/>
              </a:ext>
            </a:extLst>
          </p:cNvPr>
          <p:cNvSpPr/>
          <p:nvPr/>
        </p:nvSpPr>
        <p:spPr>
          <a:xfrm>
            <a:off x="2245324" y="2459931"/>
            <a:ext cx="7374538" cy="63837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F9EEE7"/>
                </a:solidFill>
                <a:latin typeface="Quattrocento" pitchFamily="34" charset="0"/>
                <a:ea typeface="Quattrocento" pitchFamily="34" charset="-122"/>
                <a:cs typeface="Quattrocento" pitchFamily="34" charset="-120"/>
              </a:rPr>
              <a:t>.   </a:t>
            </a:r>
            <a:endParaRPr lang="en-US" sz="1550" dirty="0"/>
          </a:p>
        </p:txBody>
      </p:sp>
      <p:sp>
        <p:nvSpPr>
          <p:cNvPr id="4" name="Shape 2">
            <a:extLst>
              <a:ext uri="{FF2B5EF4-FFF2-40B4-BE49-F238E27FC236}">
                <a16:creationId xmlns:a16="http://schemas.microsoft.com/office/drawing/2014/main" id="{E5F45745-48F7-EA4C-84E1-FB6C714B694C}"/>
              </a:ext>
            </a:extLst>
          </p:cNvPr>
          <p:cNvSpPr/>
          <p:nvPr/>
        </p:nvSpPr>
        <p:spPr>
          <a:xfrm>
            <a:off x="10829165" y="6495415"/>
            <a:ext cx="1362835" cy="303113"/>
          </a:xfrm>
          <a:prstGeom prst="roundRect">
            <a:avLst>
              <a:gd name="adj" fmla="val 7897"/>
            </a:avLst>
          </a:prstGeom>
          <a:solidFill>
            <a:srgbClr val="441709"/>
          </a:solidFill>
          <a:ln/>
        </p:spPr>
        <p:txBody>
          <a:bodyPr/>
          <a:lstStyle/>
          <a:p>
            <a:endParaRPr lang="en-IN"/>
          </a:p>
        </p:txBody>
      </p:sp>
      <p:sp>
        <p:nvSpPr>
          <p:cNvPr id="8" name="Text 6">
            <a:extLst>
              <a:ext uri="{FF2B5EF4-FFF2-40B4-BE49-F238E27FC236}">
                <a16:creationId xmlns:a16="http://schemas.microsoft.com/office/drawing/2014/main" id="{5089B41C-AF5E-8BC6-97AA-E0A842F1A6C7}"/>
              </a:ext>
            </a:extLst>
          </p:cNvPr>
          <p:cNvSpPr/>
          <p:nvPr/>
        </p:nvSpPr>
        <p:spPr>
          <a:xfrm>
            <a:off x="786892" y="4694536"/>
            <a:ext cx="11405108" cy="255191"/>
          </a:xfrm>
          <a:prstGeom prst="rect">
            <a:avLst/>
          </a:prstGeom>
          <a:noFill/>
          <a:ln/>
        </p:spPr>
        <p:txBody>
          <a:bodyPr wrap="none" lIns="0" tIns="0" rIns="0" bIns="0" rtlCol="0" anchor="t"/>
          <a:lstStyle/>
          <a:p>
            <a:pPr marL="0" indent="0" algn="l">
              <a:lnSpc>
                <a:spcPct val="133000"/>
              </a:lnSpc>
              <a:buNone/>
            </a:pPr>
            <a:endParaRPr lang="en-US" sz="1250" dirty="0"/>
          </a:p>
        </p:txBody>
      </p:sp>
    </p:spTree>
    <p:extLst>
      <p:ext uri="{BB962C8B-B14F-4D97-AF65-F5344CB8AC3E}">
        <p14:creationId xmlns:p14="http://schemas.microsoft.com/office/powerpoint/2010/main" val="2106086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1006</Words>
  <Application>Microsoft Office PowerPoint</Application>
  <PresentationFormat>Widescreen</PresentationFormat>
  <Paragraphs>123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Quattrocento</vt:lpstr>
      <vt:lpstr>Quattrocento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Rithesh Savulla</cp:lastModifiedBy>
  <cp:revision>4</cp:revision>
  <dcterms:created xsi:type="dcterms:W3CDTF">2026-08-25T04:46:46Z</dcterms:created>
  <dcterms:modified xsi:type="dcterms:W3CDTF">2026-08-25T05:34:52Z</dcterms:modified>
</cp:coreProperties>
</file>